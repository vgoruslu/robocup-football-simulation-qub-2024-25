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9"/>
  </p:notesMasterIdLst>
  <p:sldIdLst>
    <p:sldId id="256" r:id="rId2"/>
    <p:sldId id="257" r:id="rId3"/>
    <p:sldId id="259" r:id="rId4"/>
    <p:sldId id="264" r:id="rId5"/>
    <p:sldId id="265" r:id="rId6"/>
    <p:sldId id="268" r:id="rId7"/>
    <p:sldId id="266" r:id="rId8"/>
    <p:sldId id="270" r:id="rId9"/>
    <p:sldId id="271" r:id="rId10"/>
    <p:sldId id="261" r:id="rId11"/>
    <p:sldId id="272" r:id="rId12"/>
    <p:sldId id="275" r:id="rId13"/>
    <p:sldId id="278" r:id="rId14"/>
    <p:sldId id="279" r:id="rId15"/>
    <p:sldId id="281" r:id="rId16"/>
    <p:sldId id="276" r:id="rId17"/>
    <p:sldId id="27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8DF9F3-C7AF-418E-BE9A-1D9F62289D8E}" type="datetimeFigureOut">
              <a:rPr lang="en-GB" smtClean="0"/>
              <a:t>27/04/2025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0A9FD2-8EB5-4FAA-9B00-2B9E431CCF03}" type="slidenum">
              <a:rPr lang="en-GB" smtClean="0"/>
              <a:t>‹#›</a:t>
            </a:fld>
            <a:endParaRPr lang="en-GB"/>
          </a:p>
        </p:txBody>
      </p:sp>
    </p:spTree>
    <p:extLst>
      <p:ext uri="{BB962C8B-B14F-4D97-AF65-F5344CB8AC3E}">
        <p14:creationId xmlns:p14="http://schemas.microsoft.com/office/powerpoint/2010/main" val="2629236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ACD2FD-8F49-48C1-A03F-F8C1E4A695FE}" type="slidenum">
              <a:rPr lang="en-GB" smtClean="0"/>
              <a:t>4</a:t>
            </a:fld>
            <a:endParaRPr lang="en-GB"/>
          </a:p>
        </p:txBody>
      </p:sp>
    </p:spTree>
    <p:extLst>
      <p:ext uri="{BB962C8B-B14F-4D97-AF65-F5344CB8AC3E}">
        <p14:creationId xmlns:p14="http://schemas.microsoft.com/office/powerpoint/2010/main" val="70321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ACD2FD-8F49-48C1-A03F-F8C1E4A695FE}" type="slidenum">
              <a:rPr lang="en-GB" smtClean="0"/>
              <a:t>5</a:t>
            </a:fld>
            <a:endParaRPr lang="en-GB"/>
          </a:p>
        </p:txBody>
      </p:sp>
    </p:spTree>
    <p:extLst>
      <p:ext uri="{BB962C8B-B14F-4D97-AF65-F5344CB8AC3E}">
        <p14:creationId xmlns:p14="http://schemas.microsoft.com/office/powerpoint/2010/main" val="1963719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ACD2FD-8F49-48C1-A03F-F8C1E4A695FE}" type="slidenum">
              <a:rPr lang="en-GB" smtClean="0"/>
              <a:t>6</a:t>
            </a:fld>
            <a:endParaRPr lang="en-GB"/>
          </a:p>
        </p:txBody>
      </p:sp>
    </p:spTree>
    <p:extLst>
      <p:ext uri="{BB962C8B-B14F-4D97-AF65-F5344CB8AC3E}">
        <p14:creationId xmlns:p14="http://schemas.microsoft.com/office/powerpoint/2010/main" val="2576559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5ACD2FD-8F49-48C1-A03F-F8C1E4A695FE}" type="slidenum">
              <a:rPr lang="en-GB" smtClean="0"/>
              <a:t>8</a:t>
            </a:fld>
            <a:endParaRPr lang="en-GB"/>
          </a:p>
        </p:txBody>
      </p:sp>
    </p:spTree>
    <p:extLst>
      <p:ext uri="{BB962C8B-B14F-4D97-AF65-F5344CB8AC3E}">
        <p14:creationId xmlns:p14="http://schemas.microsoft.com/office/powerpoint/2010/main" val="4078091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E4436-6934-91E8-B0E7-87B61FD88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62BA4-FE6B-3BEC-361D-DA2A7126DB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61E12-F805-0B88-C5C0-3E8DDD84641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68C218A-485F-7D46-B6D5-EA96B85473E5}"/>
              </a:ext>
            </a:extLst>
          </p:cNvPr>
          <p:cNvSpPr>
            <a:spLocks noGrp="1"/>
          </p:cNvSpPr>
          <p:nvPr>
            <p:ph type="sldNum" sz="quarter" idx="5"/>
          </p:nvPr>
        </p:nvSpPr>
        <p:spPr/>
        <p:txBody>
          <a:bodyPr/>
          <a:lstStyle/>
          <a:p>
            <a:fld id="{D5ACD2FD-8F49-48C1-A03F-F8C1E4A695FE}" type="slidenum">
              <a:rPr lang="en-GB" smtClean="0"/>
              <a:t>9</a:t>
            </a:fld>
            <a:endParaRPr lang="en-GB"/>
          </a:p>
        </p:txBody>
      </p:sp>
    </p:spTree>
    <p:extLst>
      <p:ext uri="{BB962C8B-B14F-4D97-AF65-F5344CB8AC3E}">
        <p14:creationId xmlns:p14="http://schemas.microsoft.com/office/powerpoint/2010/main" val="89476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GB"/>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4AE1539-3C26-40E0-A068-1978AB5BDA6A}" type="datetimeFigureOut">
              <a:rPr lang="en-GB" smtClean="0"/>
              <a:t>27/04/2025</a:t>
            </a:fld>
            <a:endParaRPr lang="en-GB"/>
          </a:p>
        </p:txBody>
      </p:sp>
      <p:sp>
        <p:nvSpPr>
          <p:cNvPr id="5" name="Footer Placeholder 4"/>
          <p:cNvSpPr>
            <a:spLocks noGrp="1"/>
          </p:cNvSpPr>
          <p:nvPr>
            <p:ph type="ftr" sz="quarter" idx="11"/>
          </p:nvPr>
        </p:nvSpPr>
        <p:spPr>
          <a:xfrm>
            <a:off x="5332412" y="5883275"/>
            <a:ext cx="4324044" cy="365125"/>
          </a:xfrm>
        </p:spPr>
        <p:txBody>
          <a:bodyPr/>
          <a:lstStyle/>
          <a:p>
            <a:endParaRPr lang="en-GB"/>
          </a:p>
        </p:txBody>
      </p:sp>
      <p:sp>
        <p:nvSpPr>
          <p:cNvPr id="6" name="Slide Number Placeholder 5"/>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2973494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4AE1539-3C26-40E0-A068-1978AB5BDA6A}" type="datetimeFigureOut">
              <a:rPr lang="en-GB" smtClean="0"/>
              <a:t>27/04/2025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951856" y="5867131"/>
            <a:ext cx="551167" cy="365125"/>
          </a:xfrm>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115457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AE1539-3C26-40E0-A068-1978AB5BDA6A}" type="datetimeFigureOut">
              <a:rPr lang="en-GB" smtClean="0"/>
              <a:t>27/04/2025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1662036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4AE1539-3C26-40E0-A068-1978AB5BDA6A}" type="datetimeFigureOut">
              <a:rPr lang="en-GB" smtClean="0"/>
              <a:t>27/04/2025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2878116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4AE1539-3C26-40E0-A068-1978AB5BDA6A}" type="datetimeFigureOut">
              <a:rPr lang="en-GB" smtClean="0"/>
              <a:t>27/04/2025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1017392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4AE1539-3C26-40E0-A068-1978AB5BDA6A}" type="datetimeFigureOut">
              <a:rPr lang="en-GB" smtClean="0"/>
              <a:t>27/04/2025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3689845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AE1539-3C26-40E0-A068-1978AB5BDA6A}" type="datetimeFigureOut">
              <a:rPr lang="en-GB" smtClean="0"/>
              <a:t>27/04/2025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4097985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4AE1539-3C26-40E0-A068-1978AB5BDA6A}" type="datetimeFigureOut">
              <a:rPr lang="en-GB" smtClean="0"/>
              <a:t>27/04/2025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3693080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4AE1539-3C26-40E0-A068-1978AB5BDA6A}" type="datetimeFigureOut">
              <a:rPr lang="en-GB" smtClean="0"/>
              <a:t>27/04/2025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2295038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4AE1539-3C26-40E0-A068-1978AB5BDA6A}" type="datetimeFigureOut">
              <a:rPr lang="en-GB" smtClean="0"/>
              <a:t>27/04/2025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4012462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AE1539-3C26-40E0-A068-1978AB5BDA6A}" type="datetimeFigureOut">
              <a:rPr lang="en-GB" smtClean="0"/>
              <a:t>27/04/2025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40100775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AE1539-3C26-40E0-A068-1978AB5BDA6A}" type="datetimeFigureOut">
              <a:rPr lang="en-GB" smtClean="0"/>
              <a:t>27/04/2025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2417171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AE1539-3C26-40E0-A068-1978AB5BDA6A}" type="datetimeFigureOut">
              <a:rPr lang="en-GB" smtClean="0"/>
              <a:t>27/04/2025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4035461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AE1539-3C26-40E0-A068-1978AB5BDA6A}" type="datetimeFigureOut">
              <a:rPr lang="en-GB" smtClean="0"/>
              <a:t>27/04/2025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3072803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4AE1539-3C26-40E0-A068-1978AB5BDA6A}" type="datetimeFigureOut">
              <a:rPr lang="en-GB" smtClean="0"/>
              <a:t>27/04/2025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22878217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4AE1539-3C26-40E0-A068-1978AB5BDA6A}" type="datetimeFigureOut">
              <a:rPr lang="en-GB" smtClean="0"/>
              <a:t>27/04/2025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3761781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4AE1539-3C26-40E0-A068-1978AB5BDA6A}" type="datetimeFigureOut">
              <a:rPr lang="en-GB" smtClean="0"/>
              <a:t>27/04/2025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94ED8F-7B32-4A29-A110-A30892F9DA11}" type="slidenum">
              <a:rPr lang="en-GB" smtClean="0"/>
              <a:t>‹#›</a:t>
            </a:fld>
            <a:endParaRPr lang="en-GB"/>
          </a:p>
        </p:txBody>
      </p:sp>
    </p:spTree>
    <p:extLst>
      <p:ext uri="{BB962C8B-B14F-4D97-AF65-F5344CB8AC3E}">
        <p14:creationId xmlns:p14="http://schemas.microsoft.com/office/powerpoint/2010/main" val="1313213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4AE1539-3C26-40E0-A068-1978AB5BDA6A}" type="datetimeFigureOut">
              <a:rPr lang="en-GB" smtClean="0"/>
              <a:t>27/04/2025</a:t>
            </a:fld>
            <a:endParaRPr lang="en-GB"/>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94ED8F-7B32-4A29-A110-A30892F9DA11}" type="slidenum">
              <a:rPr lang="en-GB" smtClean="0"/>
              <a:t>‹#›</a:t>
            </a:fld>
            <a:endParaRPr lang="en-GB"/>
          </a:p>
        </p:txBody>
      </p:sp>
    </p:spTree>
    <p:extLst>
      <p:ext uri="{BB962C8B-B14F-4D97-AF65-F5344CB8AC3E}">
        <p14:creationId xmlns:p14="http://schemas.microsoft.com/office/powerpoint/2010/main" val="57905821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youtu.be/Z1xtyqKLUbE?si=mBXP48_q3rXavh4Z"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hyperlink" Target="https://youtu.be/AJzHT5HAVTc?si=LXEcd9msSztO6cHS"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hyperlink" Target="https://youtu.be/AJzHT5HAVTc?si=f1aPYIfaBEBsFwld" TargetMode="Externa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hyperlink" Target="https://youtu.be/txxwMR5J1OM?si=KHR9eVEflfx3RFO0"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hyperlink" Target="https://youtu.be/KQX1QVLa3YE?si=jzXuPkShTunkH5W4"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2CF1-EFE8-3E87-E402-D5AAAD722CFC}"/>
              </a:ext>
            </a:extLst>
          </p:cNvPr>
          <p:cNvSpPr>
            <a:spLocks noGrp="1"/>
          </p:cNvSpPr>
          <p:nvPr>
            <p:ph type="ctrTitle"/>
          </p:nvPr>
        </p:nvSpPr>
        <p:spPr/>
        <p:txBody>
          <a:bodyPr/>
          <a:lstStyle/>
          <a:p>
            <a:r>
              <a:rPr lang="en-GB" dirty="0"/>
              <a:t>Project Demo Presentation</a:t>
            </a:r>
          </a:p>
        </p:txBody>
      </p:sp>
      <p:sp>
        <p:nvSpPr>
          <p:cNvPr id="3" name="Subtitle 2">
            <a:extLst>
              <a:ext uri="{FF2B5EF4-FFF2-40B4-BE49-F238E27FC236}">
                <a16:creationId xmlns:a16="http://schemas.microsoft.com/office/drawing/2014/main" id="{CCFC4243-5898-B10A-41E6-20376990932D}"/>
              </a:ext>
            </a:extLst>
          </p:cNvPr>
          <p:cNvSpPr>
            <a:spLocks noGrp="1"/>
          </p:cNvSpPr>
          <p:nvPr>
            <p:ph type="subTitle" idx="1"/>
          </p:nvPr>
        </p:nvSpPr>
        <p:spPr/>
        <p:txBody>
          <a:bodyPr/>
          <a:lstStyle/>
          <a:p>
            <a:r>
              <a:rPr lang="en-GB" dirty="0"/>
              <a:t>James Young</a:t>
            </a:r>
          </a:p>
        </p:txBody>
      </p:sp>
    </p:spTree>
    <p:extLst>
      <p:ext uri="{BB962C8B-B14F-4D97-AF65-F5344CB8AC3E}">
        <p14:creationId xmlns:p14="http://schemas.microsoft.com/office/powerpoint/2010/main" val="926300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CDADEE-EFDE-B5A9-9F59-8679A9557B03}"/>
              </a:ext>
            </a:extLst>
          </p:cNvPr>
          <p:cNvSpPr>
            <a:spLocks noGrp="1"/>
          </p:cNvSpPr>
          <p:nvPr>
            <p:ph type="ctrTitle"/>
          </p:nvPr>
        </p:nvSpPr>
        <p:spPr>
          <a:xfrm>
            <a:off x="1524000" y="2208276"/>
            <a:ext cx="9144000" cy="2441448"/>
          </a:xfrm>
        </p:spPr>
        <p:txBody>
          <a:bodyPr>
            <a:normAutofit fontScale="90000"/>
          </a:bodyPr>
          <a:lstStyle/>
          <a:p>
            <a:r>
              <a:rPr lang="en-GB" sz="5400" kern="1400" spc="-50" dirty="0">
                <a:effectLst/>
                <a:latin typeface="Calibri Light" panose="020F0302020204030204" pitchFamily="34" charset="0"/>
                <a:ea typeface="Times New Roman" panose="02020603050405020304" pitchFamily="18" charset="0"/>
                <a:cs typeface="Times New Roman" panose="02020603050405020304" pitchFamily="18" charset="0"/>
              </a:rPr>
              <a:t>Implementation of Real-World Modern Football Tactics in RoboCup Soccer Simulator</a:t>
            </a:r>
            <a:endParaRPr lang="en-GB" sz="19900" dirty="0"/>
          </a:p>
        </p:txBody>
      </p:sp>
    </p:spTree>
    <p:extLst>
      <p:ext uri="{BB962C8B-B14F-4D97-AF65-F5344CB8AC3E}">
        <p14:creationId xmlns:p14="http://schemas.microsoft.com/office/powerpoint/2010/main" val="2758629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BD42F-4672-B5B3-C23D-9526B8203CEE}"/>
              </a:ext>
            </a:extLst>
          </p:cNvPr>
          <p:cNvSpPr>
            <a:spLocks noGrp="1"/>
          </p:cNvSpPr>
          <p:nvPr>
            <p:ph type="title"/>
          </p:nvPr>
        </p:nvSpPr>
        <p:spPr/>
        <p:txBody>
          <a:bodyPr/>
          <a:lstStyle/>
          <a:p>
            <a:r>
              <a:rPr lang="en-GB" dirty="0"/>
              <a:t>Design</a:t>
            </a:r>
          </a:p>
        </p:txBody>
      </p:sp>
      <p:sp>
        <p:nvSpPr>
          <p:cNvPr id="3" name="Content Placeholder 2">
            <a:extLst>
              <a:ext uri="{FF2B5EF4-FFF2-40B4-BE49-F238E27FC236}">
                <a16:creationId xmlns:a16="http://schemas.microsoft.com/office/drawing/2014/main" id="{9373A72A-5EA2-2060-6C4B-C1BFB49DE2D6}"/>
              </a:ext>
            </a:extLst>
          </p:cNvPr>
          <p:cNvSpPr>
            <a:spLocks noGrp="1"/>
          </p:cNvSpPr>
          <p:nvPr>
            <p:ph idx="1"/>
          </p:nvPr>
        </p:nvSpPr>
        <p:spPr/>
        <p:txBody>
          <a:bodyPr/>
          <a:lstStyle/>
          <a:p>
            <a:r>
              <a:rPr lang="en-GB" dirty="0"/>
              <a:t>The new tactical implementations were chosen because of their increasing relevance to the modern game of football, as well as how applicable they would be to the simulated game after analysis and observations</a:t>
            </a:r>
          </a:p>
          <a:p>
            <a:r>
              <a:rPr lang="en-GB" dirty="0"/>
              <a:t>The new ideas include updated formations, new player behaviour and an xG model implemented from scratch.</a:t>
            </a:r>
          </a:p>
        </p:txBody>
      </p:sp>
    </p:spTree>
    <p:extLst>
      <p:ext uri="{BB962C8B-B14F-4D97-AF65-F5344CB8AC3E}">
        <p14:creationId xmlns:p14="http://schemas.microsoft.com/office/powerpoint/2010/main" val="862870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44" name="Group 1043">
            <a:extLst>
              <a:ext uri="{FF2B5EF4-FFF2-40B4-BE49-F238E27FC236}">
                <a16:creationId xmlns:a16="http://schemas.microsoft.com/office/drawing/2014/main" id="{512B1782-CDD4-41AC-A632-FFC36522CD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1045" name="Freeform 6">
              <a:extLst>
                <a:ext uri="{FF2B5EF4-FFF2-40B4-BE49-F238E27FC236}">
                  <a16:creationId xmlns:a16="http://schemas.microsoft.com/office/drawing/2014/main" id="{4CC61CD1-0317-49A4-8AD6-BA2409A777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1046" name="Freeform 7">
              <a:extLst>
                <a:ext uri="{FF2B5EF4-FFF2-40B4-BE49-F238E27FC236}">
                  <a16:creationId xmlns:a16="http://schemas.microsoft.com/office/drawing/2014/main" id="{54891CA5-4664-43C7-B0E6-277D54F785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1047" name="Freeform 8">
              <a:extLst>
                <a:ext uri="{FF2B5EF4-FFF2-40B4-BE49-F238E27FC236}">
                  <a16:creationId xmlns:a16="http://schemas.microsoft.com/office/drawing/2014/main" id="{D04F924D-548A-4010-9490-978E31BF8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1048" name="Freeform 9">
              <a:extLst>
                <a:ext uri="{FF2B5EF4-FFF2-40B4-BE49-F238E27FC236}">
                  <a16:creationId xmlns:a16="http://schemas.microsoft.com/office/drawing/2014/main" id="{FE352E39-F08E-45D4-A919-8FF89A1A07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1049" name="Freeform 10">
              <a:extLst>
                <a:ext uri="{FF2B5EF4-FFF2-40B4-BE49-F238E27FC236}">
                  <a16:creationId xmlns:a16="http://schemas.microsoft.com/office/drawing/2014/main" id="{BC3C8D0A-607E-4526-B108-30E465AE2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1050" name="Freeform 11">
              <a:extLst>
                <a:ext uri="{FF2B5EF4-FFF2-40B4-BE49-F238E27FC236}">
                  <a16:creationId xmlns:a16="http://schemas.microsoft.com/office/drawing/2014/main" id="{FFC982EA-5E3C-4493-BDB1-9F6A411854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615B375C-2239-20D1-05B5-B6251C299921}"/>
              </a:ext>
            </a:extLst>
          </p:cNvPr>
          <p:cNvSpPr>
            <a:spLocks noGrp="1"/>
          </p:cNvSpPr>
          <p:nvPr>
            <p:ph type="title"/>
          </p:nvPr>
        </p:nvSpPr>
        <p:spPr>
          <a:xfrm>
            <a:off x="1727200" y="685800"/>
            <a:ext cx="2569498" cy="1752599"/>
          </a:xfrm>
        </p:spPr>
        <p:txBody>
          <a:bodyPr anchor="b">
            <a:normAutofit/>
          </a:bodyPr>
          <a:lstStyle/>
          <a:p>
            <a:pPr algn="l"/>
            <a:r>
              <a:rPr lang="en-GB" sz="3200"/>
              <a:t>New Role: Overlapping Full-Back</a:t>
            </a:r>
          </a:p>
        </p:txBody>
      </p:sp>
      <p:sp>
        <p:nvSpPr>
          <p:cNvPr id="3" name="Content Placeholder 2">
            <a:extLst>
              <a:ext uri="{FF2B5EF4-FFF2-40B4-BE49-F238E27FC236}">
                <a16:creationId xmlns:a16="http://schemas.microsoft.com/office/drawing/2014/main" id="{630F483D-8966-F3C6-DD02-F8E8200CF811}"/>
              </a:ext>
            </a:extLst>
          </p:cNvPr>
          <p:cNvSpPr>
            <a:spLocks noGrp="1"/>
          </p:cNvSpPr>
          <p:nvPr>
            <p:ph idx="1"/>
          </p:nvPr>
        </p:nvSpPr>
        <p:spPr>
          <a:xfrm>
            <a:off x="1484310" y="2666999"/>
            <a:ext cx="2812387" cy="3200132"/>
          </a:xfrm>
        </p:spPr>
        <p:txBody>
          <a:bodyPr anchor="t">
            <a:normAutofit/>
          </a:bodyPr>
          <a:lstStyle/>
          <a:p>
            <a:pPr>
              <a:lnSpc>
                <a:spcPct val="90000"/>
              </a:lnSpc>
            </a:pPr>
            <a:r>
              <a:rPr lang="en-GB" sz="1500"/>
              <a:t>The overlapping full-back is a classic tactical idea in football, dating back to the legendary Brazilian winning sides of the 1950s and 60s</a:t>
            </a:r>
          </a:p>
          <a:p>
            <a:pPr>
              <a:lnSpc>
                <a:spcPct val="90000"/>
              </a:lnSpc>
            </a:pPr>
            <a:r>
              <a:rPr lang="en-GB" sz="1500"/>
              <a:t>The Fundamental Idea is to encourage your full-backs, who are typically in a defensive role to engage in a more attacking role,  allowing the wingers to come inside and to add numerical advantage to the attack</a:t>
            </a:r>
          </a:p>
        </p:txBody>
      </p:sp>
      <p:sp>
        <p:nvSpPr>
          <p:cNvPr id="1052" name="Rounded Rectangle 16">
            <a:extLst>
              <a:ext uri="{FF2B5EF4-FFF2-40B4-BE49-F238E27FC236}">
                <a16:creationId xmlns:a16="http://schemas.microsoft.com/office/drawing/2014/main" id="{CA5FA9EF-4A97-4A0B-98BF-AC4CABAAA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1162" y="648931"/>
            <a:ext cx="6881862"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ow to Watch the World Cup Like a True Soccer Nerd">
            <a:extLst>
              <a:ext uri="{FF2B5EF4-FFF2-40B4-BE49-F238E27FC236}">
                <a16:creationId xmlns:a16="http://schemas.microsoft.com/office/drawing/2014/main" id="{147DAD81-6770-EE59-3057-AF7FF0C6FB9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 b="4083"/>
          <a:stretch/>
        </p:blipFill>
        <p:spPr bwMode="auto">
          <a:xfrm>
            <a:off x="4941202" y="1011765"/>
            <a:ext cx="6237359" cy="4546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231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2055" name="Group 2054">
            <a:extLst>
              <a:ext uri="{FF2B5EF4-FFF2-40B4-BE49-F238E27FC236}">
                <a16:creationId xmlns:a16="http://schemas.microsoft.com/office/drawing/2014/main" id="{512B1782-CDD4-41AC-A632-FFC36522CD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2056" name="Freeform 6">
              <a:extLst>
                <a:ext uri="{FF2B5EF4-FFF2-40B4-BE49-F238E27FC236}">
                  <a16:creationId xmlns:a16="http://schemas.microsoft.com/office/drawing/2014/main" id="{4CC61CD1-0317-49A4-8AD6-BA2409A777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2057" name="Freeform 7">
              <a:extLst>
                <a:ext uri="{FF2B5EF4-FFF2-40B4-BE49-F238E27FC236}">
                  <a16:creationId xmlns:a16="http://schemas.microsoft.com/office/drawing/2014/main" id="{54891CA5-4664-43C7-B0E6-277D54F785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2058" name="Freeform 8">
              <a:extLst>
                <a:ext uri="{FF2B5EF4-FFF2-40B4-BE49-F238E27FC236}">
                  <a16:creationId xmlns:a16="http://schemas.microsoft.com/office/drawing/2014/main" id="{D04F924D-548A-4010-9490-978E31BF8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2059" name="Freeform 9">
              <a:extLst>
                <a:ext uri="{FF2B5EF4-FFF2-40B4-BE49-F238E27FC236}">
                  <a16:creationId xmlns:a16="http://schemas.microsoft.com/office/drawing/2014/main" id="{FE352E39-F08E-45D4-A919-8FF89A1A07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2060" name="Freeform 10">
              <a:extLst>
                <a:ext uri="{FF2B5EF4-FFF2-40B4-BE49-F238E27FC236}">
                  <a16:creationId xmlns:a16="http://schemas.microsoft.com/office/drawing/2014/main" id="{BC3C8D0A-607E-4526-B108-30E465AE2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2061" name="Freeform 11">
              <a:extLst>
                <a:ext uri="{FF2B5EF4-FFF2-40B4-BE49-F238E27FC236}">
                  <a16:creationId xmlns:a16="http://schemas.microsoft.com/office/drawing/2014/main" id="{FFC982EA-5E3C-4493-BDB1-9F6A411854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5B68D409-A40D-A069-09FB-7EC066818E8A}"/>
              </a:ext>
            </a:extLst>
          </p:cNvPr>
          <p:cNvSpPr>
            <a:spLocks noGrp="1"/>
          </p:cNvSpPr>
          <p:nvPr>
            <p:ph type="title"/>
          </p:nvPr>
        </p:nvSpPr>
        <p:spPr>
          <a:xfrm>
            <a:off x="1727200" y="685800"/>
            <a:ext cx="2569498" cy="1752599"/>
          </a:xfrm>
        </p:spPr>
        <p:txBody>
          <a:bodyPr anchor="b">
            <a:normAutofit/>
          </a:bodyPr>
          <a:lstStyle/>
          <a:p>
            <a:pPr algn="l"/>
            <a:r>
              <a:rPr lang="en-GB" sz="3200"/>
              <a:t>New Role: False 9</a:t>
            </a:r>
          </a:p>
        </p:txBody>
      </p:sp>
      <p:sp>
        <p:nvSpPr>
          <p:cNvPr id="3" name="Content Placeholder 2">
            <a:extLst>
              <a:ext uri="{FF2B5EF4-FFF2-40B4-BE49-F238E27FC236}">
                <a16:creationId xmlns:a16="http://schemas.microsoft.com/office/drawing/2014/main" id="{19635F0E-0741-9902-C28F-D0C061FCE0CF}"/>
              </a:ext>
            </a:extLst>
          </p:cNvPr>
          <p:cNvSpPr>
            <a:spLocks noGrp="1"/>
          </p:cNvSpPr>
          <p:nvPr>
            <p:ph idx="1"/>
          </p:nvPr>
        </p:nvSpPr>
        <p:spPr>
          <a:xfrm>
            <a:off x="1484310" y="2666999"/>
            <a:ext cx="2812387" cy="3200132"/>
          </a:xfrm>
        </p:spPr>
        <p:txBody>
          <a:bodyPr anchor="t">
            <a:normAutofit/>
          </a:bodyPr>
          <a:lstStyle/>
          <a:p>
            <a:pPr>
              <a:lnSpc>
                <a:spcPct val="90000"/>
              </a:lnSpc>
            </a:pPr>
            <a:r>
              <a:rPr lang="en-GB" sz="1500"/>
              <a:t>The false 9 is a newer idea within football, most famously utilised by the World Cup winning team of Spain in 2012, but also popularised by Pep Guardiola’s great Barcelona side between 2008 and 2012.</a:t>
            </a:r>
          </a:p>
          <a:p>
            <a:pPr>
              <a:lnSpc>
                <a:spcPct val="90000"/>
              </a:lnSpc>
            </a:pPr>
            <a:r>
              <a:rPr lang="en-GB" sz="1500"/>
              <a:t>It involves playing without a traditional striker,  instead encouraging them to drop into midfield to enable a numerical advantage</a:t>
            </a:r>
          </a:p>
        </p:txBody>
      </p:sp>
      <p:sp>
        <p:nvSpPr>
          <p:cNvPr id="2063" name="Rounded Rectangle 16">
            <a:extLst>
              <a:ext uri="{FF2B5EF4-FFF2-40B4-BE49-F238E27FC236}">
                <a16:creationId xmlns:a16="http://schemas.microsoft.com/office/drawing/2014/main" id="{CA5FA9EF-4A97-4A0B-98BF-AC4CABAAA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1162" y="648931"/>
            <a:ext cx="6881862"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The Evolution of the False 9 Role - Breaking The Lines">
            <a:extLst>
              <a:ext uri="{FF2B5EF4-FFF2-40B4-BE49-F238E27FC236}">
                <a16:creationId xmlns:a16="http://schemas.microsoft.com/office/drawing/2014/main" id="{C56A5118-48F9-1B4D-A906-AA19F753FB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3067" r="-2" b="34994"/>
          <a:stretch/>
        </p:blipFill>
        <p:spPr bwMode="auto">
          <a:xfrm>
            <a:off x="4941202" y="1011765"/>
            <a:ext cx="6237359" cy="4546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7202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79" name="Group 3078">
            <a:extLst>
              <a:ext uri="{FF2B5EF4-FFF2-40B4-BE49-F238E27FC236}">
                <a16:creationId xmlns:a16="http://schemas.microsoft.com/office/drawing/2014/main" id="{512B1782-CDD4-41AC-A632-FFC36522CD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3080" name="Freeform 6">
              <a:extLst>
                <a:ext uri="{FF2B5EF4-FFF2-40B4-BE49-F238E27FC236}">
                  <a16:creationId xmlns:a16="http://schemas.microsoft.com/office/drawing/2014/main" id="{4CC61CD1-0317-49A4-8AD6-BA2409A777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3081" name="Freeform 7">
              <a:extLst>
                <a:ext uri="{FF2B5EF4-FFF2-40B4-BE49-F238E27FC236}">
                  <a16:creationId xmlns:a16="http://schemas.microsoft.com/office/drawing/2014/main" id="{54891CA5-4664-43C7-B0E6-277D54F785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3082" name="Freeform 8">
              <a:extLst>
                <a:ext uri="{FF2B5EF4-FFF2-40B4-BE49-F238E27FC236}">
                  <a16:creationId xmlns:a16="http://schemas.microsoft.com/office/drawing/2014/main" id="{D04F924D-548A-4010-9490-978E31BF8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3083" name="Freeform 9">
              <a:extLst>
                <a:ext uri="{FF2B5EF4-FFF2-40B4-BE49-F238E27FC236}">
                  <a16:creationId xmlns:a16="http://schemas.microsoft.com/office/drawing/2014/main" id="{FE352E39-F08E-45D4-A919-8FF89A1A07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3084" name="Freeform 10">
              <a:extLst>
                <a:ext uri="{FF2B5EF4-FFF2-40B4-BE49-F238E27FC236}">
                  <a16:creationId xmlns:a16="http://schemas.microsoft.com/office/drawing/2014/main" id="{BC3C8D0A-607E-4526-B108-30E465AE2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3085" name="Freeform 11">
              <a:extLst>
                <a:ext uri="{FF2B5EF4-FFF2-40B4-BE49-F238E27FC236}">
                  <a16:creationId xmlns:a16="http://schemas.microsoft.com/office/drawing/2014/main" id="{FFC982EA-5E3C-4493-BDB1-9F6A411854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80AC7FED-CAF3-1FA2-204D-6E181EC2E3C1}"/>
              </a:ext>
            </a:extLst>
          </p:cNvPr>
          <p:cNvSpPr>
            <a:spLocks noGrp="1"/>
          </p:cNvSpPr>
          <p:nvPr>
            <p:ph type="title"/>
          </p:nvPr>
        </p:nvSpPr>
        <p:spPr>
          <a:xfrm>
            <a:off x="1727200" y="685800"/>
            <a:ext cx="2569498" cy="1752599"/>
          </a:xfrm>
        </p:spPr>
        <p:txBody>
          <a:bodyPr anchor="b">
            <a:normAutofit/>
          </a:bodyPr>
          <a:lstStyle/>
          <a:p>
            <a:pPr algn="l"/>
            <a:r>
              <a:rPr lang="en-GB" sz="3200"/>
              <a:t>New Role: Inverted Full-Back</a:t>
            </a:r>
          </a:p>
        </p:txBody>
      </p:sp>
      <p:sp>
        <p:nvSpPr>
          <p:cNvPr id="3" name="Content Placeholder 2">
            <a:extLst>
              <a:ext uri="{FF2B5EF4-FFF2-40B4-BE49-F238E27FC236}">
                <a16:creationId xmlns:a16="http://schemas.microsoft.com/office/drawing/2014/main" id="{E87E8E23-9C4D-8E50-7350-1570E5E2FD96}"/>
              </a:ext>
            </a:extLst>
          </p:cNvPr>
          <p:cNvSpPr>
            <a:spLocks noGrp="1"/>
          </p:cNvSpPr>
          <p:nvPr>
            <p:ph idx="1"/>
          </p:nvPr>
        </p:nvSpPr>
        <p:spPr>
          <a:xfrm>
            <a:off x="1484310" y="2666999"/>
            <a:ext cx="2812387" cy="3200132"/>
          </a:xfrm>
        </p:spPr>
        <p:txBody>
          <a:bodyPr anchor="t">
            <a:normAutofit/>
          </a:bodyPr>
          <a:lstStyle/>
          <a:p>
            <a:pPr>
              <a:lnSpc>
                <a:spcPct val="90000"/>
              </a:lnSpc>
            </a:pPr>
            <a:r>
              <a:rPr lang="en-GB" sz="1100"/>
              <a:t>The Inverted Full-Back is a much more modern take on the full-back, and is the opposite idea of the Overlapping Full-Back</a:t>
            </a:r>
          </a:p>
          <a:p>
            <a:pPr>
              <a:lnSpc>
                <a:spcPct val="90000"/>
              </a:lnSpc>
            </a:pPr>
            <a:r>
              <a:rPr lang="en-GB" sz="1100"/>
              <a:t>Instead of pushing up high and wide to create numbers out wide, the full-back tucks inside to midfield next to the defensive midfielder, creating a “box midfield” to create a numerical advantage in midfield while in possession, as well as a more solid position should you lose the ball</a:t>
            </a:r>
          </a:p>
          <a:p>
            <a:pPr>
              <a:lnSpc>
                <a:spcPct val="90000"/>
              </a:lnSpc>
            </a:pPr>
            <a:r>
              <a:rPr lang="en-GB" sz="1100"/>
              <a:t>Involves pairing the full-back with the defensive midfielder, and converting the right back to a centre back, making it a back 3 in possession</a:t>
            </a:r>
          </a:p>
        </p:txBody>
      </p:sp>
      <p:sp>
        <p:nvSpPr>
          <p:cNvPr id="3087" name="Rounded Rectangle 16">
            <a:extLst>
              <a:ext uri="{FF2B5EF4-FFF2-40B4-BE49-F238E27FC236}">
                <a16:creationId xmlns:a16="http://schemas.microsoft.com/office/drawing/2014/main" id="{CA5FA9EF-4A97-4A0B-98BF-AC4CABAAA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1162" y="648931"/>
            <a:ext cx="6881862"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Why Play an Inverted Full-Back? – Tactically Speaking">
            <a:extLst>
              <a:ext uri="{FF2B5EF4-FFF2-40B4-BE49-F238E27FC236}">
                <a16:creationId xmlns:a16="http://schemas.microsoft.com/office/drawing/2014/main" id="{7048414E-ED39-1E79-5649-3A3F4B6113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726" r="13591"/>
          <a:stretch/>
        </p:blipFill>
        <p:spPr bwMode="auto">
          <a:xfrm>
            <a:off x="4941202" y="1011765"/>
            <a:ext cx="6237359" cy="4546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3576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4103" name="Group 4102">
            <a:extLst>
              <a:ext uri="{FF2B5EF4-FFF2-40B4-BE49-F238E27FC236}">
                <a16:creationId xmlns:a16="http://schemas.microsoft.com/office/drawing/2014/main" id="{512B1782-CDD4-41AC-A632-FFC36522CD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4104" name="Freeform 6">
              <a:extLst>
                <a:ext uri="{FF2B5EF4-FFF2-40B4-BE49-F238E27FC236}">
                  <a16:creationId xmlns:a16="http://schemas.microsoft.com/office/drawing/2014/main" id="{4CC61CD1-0317-49A4-8AD6-BA2409A777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4105" name="Freeform 7">
              <a:extLst>
                <a:ext uri="{FF2B5EF4-FFF2-40B4-BE49-F238E27FC236}">
                  <a16:creationId xmlns:a16="http://schemas.microsoft.com/office/drawing/2014/main" id="{54891CA5-4664-43C7-B0E6-277D54F785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4106" name="Freeform 8">
              <a:extLst>
                <a:ext uri="{FF2B5EF4-FFF2-40B4-BE49-F238E27FC236}">
                  <a16:creationId xmlns:a16="http://schemas.microsoft.com/office/drawing/2014/main" id="{D04F924D-548A-4010-9490-978E31BF8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4107" name="Freeform 9">
              <a:extLst>
                <a:ext uri="{FF2B5EF4-FFF2-40B4-BE49-F238E27FC236}">
                  <a16:creationId xmlns:a16="http://schemas.microsoft.com/office/drawing/2014/main" id="{FE352E39-F08E-45D4-A919-8FF89A1A07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4108" name="Freeform 10">
              <a:extLst>
                <a:ext uri="{FF2B5EF4-FFF2-40B4-BE49-F238E27FC236}">
                  <a16:creationId xmlns:a16="http://schemas.microsoft.com/office/drawing/2014/main" id="{BC3C8D0A-607E-4526-B108-30E465AE2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4109" name="Freeform 11">
              <a:extLst>
                <a:ext uri="{FF2B5EF4-FFF2-40B4-BE49-F238E27FC236}">
                  <a16:creationId xmlns:a16="http://schemas.microsoft.com/office/drawing/2014/main" id="{FFC982EA-5E3C-4493-BDB1-9F6A411854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C51C6197-B8C6-9AE1-9E46-63C1EAD1F40A}"/>
              </a:ext>
            </a:extLst>
          </p:cNvPr>
          <p:cNvSpPr>
            <a:spLocks noGrp="1"/>
          </p:cNvSpPr>
          <p:nvPr>
            <p:ph type="title"/>
          </p:nvPr>
        </p:nvSpPr>
        <p:spPr>
          <a:xfrm>
            <a:off x="1727200" y="685800"/>
            <a:ext cx="2569498" cy="1752599"/>
          </a:xfrm>
        </p:spPr>
        <p:txBody>
          <a:bodyPr anchor="b">
            <a:normAutofit/>
          </a:bodyPr>
          <a:lstStyle/>
          <a:p>
            <a:pPr algn="l">
              <a:lnSpc>
                <a:spcPct val="90000"/>
              </a:lnSpc>
            </a:pPr>
            <a:r>
              <a:rPr lang="en-GB" sz="2500"/>
              <a:t>Updated Formations - </a:t>
            </a:r>
            <a:br>
              <a:rPr lang="en-GB" sz="2500"/>
            </a:br>
            <a:r>
              <a:rPr lang="en-GB" sz="2500"/>
              <a:t>4-4-2 Out of Possession (OOP)</a:t>
            </a:r>
          </a:p>
        </p:txBody>
      </p:sp>
      <p:sp>
        <p:nvSpPr>
          <p:cNvPr id="3" name="Content Placeholder 2">
            <a:extLst>
              <a:ext uri="{FF2B5EF4-FFF2-40B4-BE49-F238E27FC236}">
                <a16:creationId xmlns:a16="http://schemas.microsoft.com/office/drawing/2014/main" id="{CE1DA8FE-607D-F3D6-D1FB-E0D85958770B}"/>
              </a:ext>
            </a:extLst>
          </p:cNvPr>
          <p:cNvSpPr>
            <a:spLocks noGrp="1"/>
          </p:cNvSpPr>
          <p:nvPr>
            <p:ph idx="1"/>
          </p:nvPr>
        </p:nvSpPr>
        <p:spPr>
          <a:xfrm>
            <a:off x="1484310" y="2666999"/>
            <a:ext cx="2812387" cy="3200132"/>
          </a:xfrm>
        </p:spPr>
        <p:txBody>
          <a:bodyPr anchor="t">
            <a:normAutofit/>
          </a:bodyPr>
          <a:lstStyle/>
          <a:p>
            <a:pPr>
              <a:lnSpc>
                <a:spcPct val="90000"/>
              </a:lnSpc>
            </a:pPr>
            <a:r>
              <a:rPr lang="en-GB" sz="1400"/>
              <a:t>The 4-4-2 is known as a more rigid and tactically solid formation compared to the more popular 4-3-3.</a:t>
            </a:r>
          </a:p>
          <a:p>
            <a:pPr>
              <a:lnSpc>
                <a:spcPct val="90000"/>
              </a:lnSpc>
            </a:pPr>
            <a:r>
              <a:rPr lang="en-GB" sz="1400"/>
              <a:t>It sacrifices a player in midfield in an attempt to cover the pitch with players in a more even spread</a:t>
            </a:r>
          </a:p>
          <a:p>
            <a:pPr>
              <a:lnSpc>
                <a:spcPct val="90000"/>
              </a:lnSpc>
            </a:pPr>
            <a:r>
              <a:rPr lang="en-GB" sz="1400"/>
              <a:t>This works well when not in possession of the ball as it makes the team harder to break down compared to the 4-3-3, as less players are left up front</a:t>
            </a:r>
          </a:p>
        </p:txBody>
      </p:sp>
      <p:sp>
        <p:nvSpPr>
          <p:cNvPr id="4111" name="Rounded Rectangle 16">
            <a:extLst>
              <a:ext uri="{FF2B5EF4-FFF2-40B4-BE49-F238E27FC236}">
                <a16:creationId xmlns:a16="http://schemas.microsoft.com/office/drawing/2014/main" id="{CA5FA9EF-4A97-4A0B-98BF-AC4CABAAA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1162" y="648931"/>
            <a:ext cx="6881862"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Formation Explainer: 4 4 2 | Football/Soccer">
            <a:extLst>
              <a:ext uri="{FF2B5EF4-FFF2-40B4-BE49-F238E27FC236}">
                <a16:creationId xmlns:a16="http://schemas.microsoft.com/office/drawing/2014/main" id="{502AF574-5FDC-AECB-402C-C0FE8230DE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3729" b="2"/>
          <a:stretch/>
        </p:blipFill>
        <p:spPr bwMode="auto">
          <a:xfrm>
            <a:off x="4941202" y="1011765"/>
            <a:ext cx="6232319" cy="4546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1067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C538F206-9BBA-4487-865D-71DFC74F8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22" name="Freeform 6">
              <a:extLst>
                <a:ext uri="{FF2B5EF4-FFF2-40B4-BE49-F238E27FC236}">
                  <a16:creationId xmlns:a16="http://schemas.microsoft.com/office/drawing/2014/main" id="{580614F2-0CEB-4083-881D-7C6D94EE1D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23" name="Freeform 7">
              <a:extLst>
                <a:ext uri="{FF2B5EF4-FFF2-40B4-BE49-F238E27FC236}">
                  <a16:creationId xmlns:a16="http://schemas.microsoft.com/office/drawing/2014/main" id="{DCFD8076-443D-4E98-86A9-67AE2B4752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24" name="Freeform 8">
              <a:extLst>
                <a:ext uri="{FF2B5EF4-FFF2-40B4-BE49-F238E27FC236}">
                  <a16:creationId xmlns:a16="http://schemas.microsoft.com/office/drawing/2014/main" id="{F85D1CA3-A4F9-4CA3-85A0-167A4345B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25" name="Freeform 9">
              <a:extLst>
                <a:ext uri="{FF2B5EF4-FFF2-40B4-BE49-F238E27FC236}">
                  <a16:creationId xmlns:a16="http://schemas.microsoft.com/office/drawing/2014/main" id="{E3BB8822-EB78-4939-8901-EF8FFA1C4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26" name="Freeform 10">
              <a:extLst>
                <a:ext uri="{FF2B5EF4-FFF2-40B4-BE49-F238E27FC236}">
                  <a16:creationId xmlns:a16="http://schemas.microsoft.com/office/drawing/2014/main" id="{72544C13-BB7D-4E3D-9438-8875C50C8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27" name="Freeform 11">
              <a:extLst>
                <a:ext uri="{FF2B5EF4-FFF2-40B4-BE49-F238E27FC236}">
                  <a16:creationId xmlns:a16="http://schemas.microsoft.com/office/drawing/2014/main" id="{9650E338-7738-4630-84F5-898D9E4309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3B56D1D8-1785-7DDC-DEFC-01231CC29A56}"/>
              </a:ext>
            </a:extLst>
          </p:cNvPr>
          <p:cNvSpPr>
            <a:spLocks noGrp="1"/>
          </p:cNvSpPr>
          <p:nvPr>
            <p:ph type="title"/>
          </p:nvPr>
        </p:nvSpPr>
        <p:spPr>
          <a:xfrm>
            <a:off x="1484312" y="685800"/>
            <a:ext cx="2812385" cy="1752599"/>
          </a:xfrm>
        </p:spPr>
        <p:txBody>
          <a:bodyPr>
            <a:normAutofit/>
          </a:bodyPr>
          <a:lstStyle/>
          <a:p>
            <a:r>
              <a:rPr lang="en-GB" sz="3000"/>
              <a:t>Updated Formations – </a:t>
            </a:r>
            <a:br>
              <a:rPr lang="en-GB" sz="3000"/>
            </a:br>
            <a:r>
              <a:rPr lang="en-GB" sz="3000"/>
              <a:t>4-3-3 High Press</a:t>
            </a:r>
          </a:p>
        </p:txBody>
      </p:sp>
      <p:sp>
        <p:nvSpPr>
          <p:cNvPr id="3" name="Content Placeholder 2">
            <a:extLst>
              <a:ext uri="{FF2B5EF4-FFF2-40B4-BE49-F238E27FC236}">
                <a16:creationId xmlns:a16="http://schemas.microsoft.com/office/drawing/2014/main" id="{3BBB7CD9-0D9A-FDD0-6985-FEA8D7738714}"/>
              </a:ext>
            </a:extLst>
          </p:cNvPr>
          <p:cNvSpPr>
            <a:spLocks noGrp="1"/>
          </p:cNvSpPr>
          <p:nvPr>
            <p:ph idx="1"/>
          </p:nvPr>
        </p:nvSpPr>
        <p:spPr>
          <a:xfrm>
            <a:off x="1484310" y="2666999"/>
            <a:ext cx="2812387" cy="3124201"/>
          </a:xfrm>
        </p:spPr>
        <p:txBody>
          <a:bodyPr>
            <a:normAutofit/>
          </a:bodyPr>
          <a:lstStyle/>
          <a:p>
            <a:pPr>
              <a:lnSpc>
                <a:spcPct val="90000"/>
              </a:lnSpc>
            </a:pPr>
            <a:r>
              <a:rPr lang="en-GB" sz="1500"/>
              <a:t>The High Press is a different out of possession tactic, designed to pressure the opposition high up the pitch.</a:t>
            </a:r>
          </a:p>
          <a:p>
            <a:pPr>
              <a:lnSpc>
                <a:spcPct val="90000"/>
              </a:lnSpc>
            </a:pPr>
            <a:r>
              <a:rPr lang="en-GB" sz="1500"/>
              <a:t>It attempts to win the ball back much closer to the opposition goal, preventing them ever getting closer to your won goal and making it easy to start an immediate quick attack of your own</a:t>
            </a:r>
          </a:p>
        </p:txBody>
      </p:sp>
      <p:sp>
        <p:nvSpPr>
          <p:cNvPr id="29" name="Rounded Rectangle 16">
            <a:extLst>
              <a:ext uri="{FF2B5EF4-FFF2-40B4-BE49-F238E27FC236}">
                <a16:creationId xmlns:a16="http://schemas.microsoft.com/office/drawing/2014/main" id="{24EE91D3-118F-4591-A85A-D157CF847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1162" y="648931"/>
            <a:ext cx="6881862"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6B9F655-742D-62E2-C6BE-035E101C68F3}"/>
              </a:ext>
            </a:extLst>
          </p:cNvPr>
          <p:cNvPicPr>
            <a:picLocks noChangeAspect="1"/>
          </p:cNvPicPr>
          <p:nvPr/>
        </p:nvPicPr>
        <p:blipFill>
          <a:blip r:embed="rId4"/>
          <a:srcRect l="23669" r="600"/>
          <a:stretch/>
        </p:blipFill>
        <p:spPr>
          <a:xfrm>
            <a:off x="5202397" y="1011765"/>
            <a:ext cx="5714968" cy="4546708"/>
          </a:xfrm>
          <a:prstGeom prst="rect">
            <a:avLst/>
          </a:prstGeom>
        </p:spPr>
      </p:pic>
    </p:spTree>
    <p:extLst>
      <p:ext uri="{BB962C8B-B14F-4D97-AF65-F5344CB8AC3E}">
        <p14:creationId xmlns:p14="http://schemas.microsoft.com/office/powerpoint/2010/main" val="1059641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43C70821-F82F-D66D-E470-C02F751FD9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4C832-E562-8F33-47F2-86BE0996BDEC}"/>
              </a:ext>
            </a:extLst>
          </p:cNvPr>
          <p:cNvSpPr>
            <a:spLocks noGrp="1"/>
          </p:cNvSpPr>
          <p:nvPr>
            <p:ph type="title"/>
          </p:nvPr>
        </p:nvSpPr>
        <p:spPr>
          <a:xfrm>
            <a:off x="1484311" y="1081548"/>
            <a:ext cx="3333495" cy="1504335"/>
          </a:xfrm>
        </p:spPr>
        <p:txBody>
          <a:bodyPr>
            <a:normAutofit/>
          </a:bodyPr>
          <a:lstStyle/>
          <a:p>
            <a:r>
              <a:rPr lang="en-GB" sz="2400"/>
              <a:t>xG Modelling</a:t>
            </a:r>
          </a:p>
        </p:txBody>
      </p:sp>
      <p:sp>
        <p:nvSpPr>
          <p:cNvPr id="3" name="Content Placeholder 2">
            <a:extLst>
              <a:ext uri="{FF2B5EF4-FFF2-40B4-BE49-F238E27FC236}">
                <a16:creationId xmlns:a16="http://schemas.microsoft.com/office/drawing/2014/main" id="{5F0B913C-028A-AE2A-08EC-51E70D259FFF}"/>
              </a:ext>
            </a:extLst>
          </p:cNvPr>
          <p:cNvSpPr>
            <a:spLocks noGrp="1"/>
          </p:cNvSpPr>
          <p:nvPr>
            <p:ph idx="1"/>
          </p:nvPr>
        </p:nvSpPr>
        <p:spPr>
          <a:xfrm>
            <a:off x="1484311" y="2666999"/>
            <a:ext cx="3333496" cy="3124201"/>
          </a:xfrm>
        </p:spPr>
        <p:txBody>
          <a:bodyPr anchor="t">
            <a:normAutofit/>
          </a:bodyPr>
          <a:lstStyle/>
          <a:p>
            <a:pPr>
              <a:lnSpc>
                <a:spcPct val="90000"/>
              </a:lnSpc>
            </a:pPr>
            <a:r>
              <a:rPr lang="en-GB" sz="1500"/>
              <a:t>xG stands for “Expected Goals”</a:t>
            </a:r>
          </a:p>
          <a:p>
            <a:pPr>
              <a:lnSpc>
                <a:spcPct val="90000"/>
              </a:lnSpc>
            </a:pPr>
            <a:r>
              <a:rPr lang="en-GB" sz="1500"/>
              <a:t>Gives each shot a probability of being a goal (between 0 and 1) based on factors such as: </a:t>
            </a:r>
          </a:p>
          <a:p>
            <a:pPr lvl="1">
              <a:lnSpc>
                <a:spcPct val="90000"/>
              </a:lnSpc>
            </a:pPr>
            <a:r>
              <a:rPr lang="en-GB" sz="1500"/>
              <a:t>Distance to goal</a:t>
            </a:r>
          </a:p>
          <a:p>
            <a:pPr lvl="1">
              <a:lnSpc>
                <a:spcPct val="90000"/>
              </a:lnSpc>
            </a:pPr>
            <a:r>
              <a:rPr lang="en-GB" sz="1500"/>
              <a:t>Shot angle</a:t>
            </a:r>
          </a:p>
          <a:p>
            <a:pPr lvl="1">
              <a:lnSpc>
                <a:spcPct val="90000"/>
              </a:lnSpc>
            </a:pPr>
            <a:r>
              <a:rPr lang="en-GB" sz="1500"/>
              <a:t>Body part used</a:t>
            </a:r>
          </a:p>
          <a:p>
            <a:pPr lvl="1">
              <a:lnSpc>
                <a:spcPct val="90000"/>
              </a:lnSpc>
            </a:pPr>
            <a:r>
              <a:rPr lang="en-GB" sz="1500"/>
              <a:t>Defensive pressure</a:t>
            </a:r>
          </a:p>
          <a:p>
            <a:pPr>
              <a:lnSpc>
                <a:spcPct val="90000"/>
              </a:lnSpc>
            </a:pPr>
            <a:r>
              <a:rPr lang="en-GB" sz="1500"/>
              <a:t>Used in this project for measuring team performance and influencing shot taking decision making</a:t>
            </a:r>
          </a:p>
        </p:txBody>
      </p:sp>
      <p:pic>
        <p:nvPicPr>
          <p:cNvPr id="31" name="Picture 30" descr="Football ball in goal">
            <a:extLst>
              <a:ext uri="{FF2B5EF4-FFF2-40B4-BE49-F238E27FC236}">
                <a16:creationId xmlns:a16="http://schemas.microsoft.com/office/drawing/2014/main" id="{6B81428B-16E6-3565-05B7-1C54088E1ED5}"/>
              </a:ext>
            </a:extLst>
          </p:cNvPr>
          <p:cNvPicPr>
            <a:picLocks noChangeAspect="1"/>
          </p:cNvPicPr>
          <p:nvPr/>
        </p:nvPicPr>
        <p:blipFill>
          <a:blip r:embed="rId4"/>
          <a:srcRect l="16355" r="32068" b="-1"/>
          <a:stretch/>
        </p:blipFill>
        <p:spPr>
          <a:xfrm>
            <a:off x="6430328" y="685799"/>
            <a:ext cx="3904399" cy="5053050"/>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3997205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ABD31-B60F-FF17-B531-F0F8A8A6DB3C}"/>
              </a:ext>
            </a:extLst>
          </p:cNvPr>
          <p:cNvSpPr>
            <a:spLocks noGrp="1"/>
          </p:cNvSpPr>
          <p:nvPr>
            <p:ph type="ctrTitle"/>
          </p:nvPr>
        </p:nvSpPr>
        <p:spPr/>
        <p:txBody>
          <a:bodyPr/>
          <a:lstStyle/>
          <a:p>
            <a:r>
              <a:rPr lang="en-GB" dirty="0"/>
              <a:t>System Demo</a:t>
            </a:r>
          </a:p>
        </p:txBody>
      </p:sp>
    </p:spTree>
    <p:extLst>
      <p:ext uri="{BB962C8B-B14F-4D97-AF65-F5344CB8AC3E}">
        <p14:creationId xmlns:p14="http://schemas.microsoft.com/office/powerpoint/2010/main" val="3314331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54074-E317-9B36-F7C7-2F6A9CDDC4BC}"/>
              </a:ext>
            </a:extLst>
          </p:cNvPr>
          <p:cNvSpPr>
            <a:spLocks noGrp="1"/>
          </p:cNvSpPr>
          <p:nvPr>
            <p:ph type="ctrTitle"/>
          </p:nvPr>
        </p:nvSpPr>
        <p:spPr/>
        <p:txBody>
          <a:bodyPr/>
          <a:lstStyle/>
          <a:p>
            <a:r>
              <a:rPr lang="en-GB" dirty="0"/>
              <a:t>Recorded Matches</a:t>
            </a:r>
          </a:p>
        </p:txBody>
      </p:sp>
    </p:spTree>
    <p:extLst>
      <p:ext uri="{BB962C8B-B14F-4D97-AF65-F5344CB8AC3E}">
        <p14:creationId xmlns:p14="http://schemas.microsoft.com/office/powerpoint/2010/main" val="2612919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66E64-78DA-5143-1BCA-DEF69ED56338}"/>
              </a:ext>
            </a:extLst>
          </p:cNvPr>
          <p:cNvSpPr>
            <a:spLocks noGrp="1"/>
          </p:cNvSpPr>
          <p:nvPr>
            <p:ph type="title"/>
          </p:nvPr>
        </p:nvSpPr>
        <p:spPr/>
        <p:txBody>
          <a:bodyPr/>
          <a:lstStyle/>
          <a:p>
            <a:r>
              <a:rPr lang="en-GB" dirty="0"/>
              <a:t>Tactical Changes</a:t>
            </a:r>
          </a:p>
        </p:txBody>
      </p:sp>
      <p:sp>
        <p:nvSpPr>
          <p:cNvPr id="3" name="Content Placeholder 2">
            <a:extLst>
              <a:ext uri="{FF2B5EF4-FFF2-40B4-BE49-F238E27FC236}">
                <a16:creationId xmlns:a16="http://schemas.microsoft.com/office/drawing/2014/main" id="{17F96FC8-4BD0-5DAC-A699-FF2D11443CF4}"/>
              </a:ext>
            </a:extLst>
          </p:cNvPr>
          <p:cNvSpPr>
            <a:spLocks noGrp="1"/>
          </p:cNvSpPr>
          <p:nvPr>
            <p:ph idx="1"/>
          </p:nvPr>
        </p:nvSpPr>
        <p:spPr/>
        <p:txBody>
          <a:bodyPr/>
          <a:lstStyle/>
          <a:p>
            <a:r>
              <a:rPr lang="en-GB" dirty="0"/>
              <a:t>Times when its being used</a:t>
            </a:r>
          </a:p>
          <a:p>
            <a:r>
              <a:rPr lang="en-GB" dirty="0"/>
              <a:t>Link to match</a:t>
            </a:r>
          </a:p>
          <a:p>
            <a:r>
              <a:rPr lang="en-GB" dirty="0"/>
              <a:t>Key moment from match</a:t>
            </a:r>
          </a:p>
          <a:p>
            <a:r>
              <a:rPr lang="en-GB" dirty="0"/>
              <a:t>Explain how this works and how it benefits the team</a:t>
            </a:r>
          </a:p>
          <a:p>
            <a:r>
              <a:rPr lang="en-GB" dirty="0"/>
              <a:t>Fullbacks x2, false 9, OOP structure x2</a:t>
            </a:r>
          </a:p>
        </p:txBody>
      </p:sp>
    </p:spTree>
    <p:extLst>
      <p:ext uri="{BB962C8B-B14F-4D97-AF65-F5344CB8AC3E}">
        <p14:creationId xmlns:p14="http://schemas.microsoft.com/office/powerpoint/2010/main" val="2557968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4E494EFB-7D3E-5CA1-939B-D1AC11238EF2}"/>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C538F206-9BBA-4487-865D-71DFC74F8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20" name="Freeform 6">
              <a:extLst>
                <a:ext uri="{FF2B5EF4-FFF2-40B4-BE49-F238E27FC236}">
                  <a16:creationId xmlns:a16="http://schemas.microsoft.com/office/drawing/2014/main" id="{580614F2-0CEB-4083-881D-7C6D94EE1D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21" name="Freeform 7">
              <a:extLst>
                <a:ext uri="{FF2B5EF4-FFF2-40B4-BE49-F238E27FC236}">
                  <a16:creationId xmlns:a16="http://schemas.microsoft.com/office/drawing/2014/main" id="{DCFD8076-443D-4E98-86A9-67AE2B4752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22" name="Freeform 8">
              <a:extLst>
                <a:ext uri="{FF2B5EF4-FFF2-40B4-BE49-F238E27FC236}">
                  <a16:creationId xmlns:a16="http://schemas.microsoft.com/office/drawing/2014/main" id="{F85D1CA3-A4F9-4CA3-85A0-167A4345B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23" name="Freeform 9">
              <a:extLst>
                <a:ext uri="{FF2B5EF4-FFF2-40B4-BE49-F238E27FC236}">
                  <a16:creationId xmlns:a16="http://schemas.microsoft.com/office/drawing/2014/main" id="{E3BB8822-EB78-4939-8901-EF8FFA1C4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24" name="Freeform 10">
              <a:extLst>
                <a:ext uri="{FF2B5EF4-FFF2-40B4-BE49-F238E27FC236}">
                  <a16:creationId xmlns:a16="http://schemas.microsoft.com/office/drawing/2014/main" id="{72544C13-BB7D-4E3D-9438-8875C50C8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25" name="Freeform 11">
              <a:extLst>
                <a:ext uri="{FF2B5EF4-FFF2-40B4-BE49-F238E27FC236}">
                  <a16:creationId xmlns:a16="http://schemas.microsoft.com/office/drawing/2014/main" id="{9650E338-7738-4630-84F5-898D9E4309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48B8D83F-7636-C588-8860-8B390C43164D}"/>
              </a:ext>
            </a:extLst>
          </p:cNvPr>
          <p:cNvSpPr>
            <a:spLocks noGrp="1"/>
          </p:cNvSpPr>
          <p:nvPr>
            <p:ph type="title"/>
          </p:nvPr>
        </p:nvSpPr>
        <p:spPr>
          <a:xfrm>
            <a:off x="1484312" y="685800"/>
            <a:ext cx="2812385" cy="1752599"/>
          </a:xfrm>
        </p:spPr>
        <p:txBody>
          <a:bodyPr>
            <a:normAutofit/>
          </a:bodyPr>
          <a:lstStyle/>
          <a:p>
            <a:r>
              <a:rPr lang="en-GB" sz="3200"/>
              <a:t>Overlapping Full-back</a:t>
            </a:r>
          </a:p>
        </p:txBody>
      </p:sp>
      <p:sp>
        <p:nvSpPr>
          <p:cNvPr id="3" name="Content Placeholder 2">
            <a:extLst>
              <a:ext uri="{FF2B5EF4-FFF2-40B4-BE49-F238E27FC236}">
                <a16:creationId xmlns:a16="http://schemas.microsoft.com/office/drawing/2014/main" id="{52C64354-6304-4114-2EEA-EAD870ED8B8C}"/>
              </a:ext>
            </a:extLst>
          </p:cNvPr>
          <p:cNvSpPr>
            <a:spLocks noGrp="1"/>
          </p:cNvSpPr>
          <p:nvPr>
            <p:ph idx="1"/>
          </p:nvPr>
        </p:nvSpPr>
        <p:spPr>
          <a:xfrm>
            <a:off x="1484310" y="2666999"/>
            <a:ext cx="2812387" cy="3124201"/>
          </a:xfrm>
        </p:spPr>
        <p:txBody>
          <a:bodyPr>
            <a:normAutofit/>
          </a:bodyPr>
          <a:lstStyle/>
          <a:p>
            <a:pPr>
              <a:lnSpc>
                <a:spcPct val="90000"/>
              </a:lnSpc>
            </a:pPr>
            <a:r>
              <a:rPr lang="en-GB" sz="1500" dirty="0"/>
              <a:t>Deployed in losing situations, asking defenders to be more attacking and take risks</a:t>
            </a:r>
          </a:p>
          <a:p>
            <a:pPr>
              <a:lnSpc>
                <a:spcPct val="90000"/>
              </a:lnSpc>
            </a:pPr>
            <a:r>
              <a:rPr lang="en-GB" sz="1500" dirty="0">
                <a:hlinkClick r:id="rId3"/>
              </a:rPr>
              <a:t>Link to match</a:t>
            </a:r>
            <a:r>
              <a:rPr lang="en-GB" sz="1500" dirty="0"/>
              <a:t> (0.45)</a:t>
            </a:r>
          </a:p>
          <a:p>
            <a:pPr>
              <a:lnSpc>
                <a:spcPct val="90000"/>
              </a:lnSpc>
            </a:pPr>
            <a:r>
              <a:rPr lang="en-GB" sz="1500" dirty="0"/>
              <a:t>Full-Back (no. 5) joins the attack, giving a numerical advantage and leading to winger having more space and creating a chance</a:t>
            </a:r>
          </a:p>
        </p:txBody>
      </p:sp>
      <p:sp>
        <p:nvSpPr>
          <p:cNvPr id="26" name="Rounded Rectangle 16">
            <a:extLst>
              <a:ext uri="{FF2B5EF4-FFF2-40B4-BE49-F238E27FC236}">
                <a16:creationId xmlns:a16="http://schemas.microsoft.com/office/drawing/2014/main" id="{24EE91D3-118F-4591-A85A-D157CF847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1162" y="648931"/>
            <a:ext cx="6881862"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CDB35D1-E08E-1EC5-4448-25952E1909F1}"/>
              </a:ext>
            </a:extLst>
          </p:cNvPr>
          <p:cNvPicPr>
            <a:picLocks noChangeAspect="1"/>
          </p:cNvPicPr>
          <p:nvPr/>
        </p:nvPicPr>
        <p:blipFill>
          <a:blip r:embed="rId4"/>
          <a:stretch>
            <a:fillRect/>
          </a:stretch>
        </p:blipFill>
        <p:spPr>
          <a:xfrm>
            <a:off x="4941202" y="1523713"/>
            <a:ext cx="6237359" cy="3522811"/>
          </a:xfrm>
          <a:prstGeom prst="rect">
            <a:avLst/>
          </a:prstGeom>
        </p:spPr>
      </p:pic>
    </p:spTree>
    <p:extLst>
      <p:ext uri="{BB962C8B-B14F-4D97-AF65-F5344CB8AC3E}">
        <p14:creationId xmlns:p14="http://schemas.microsoft.com/office/powerpoint/2010/main" val="1905003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92F81CEB-EDC8-AADD-830D-CA987E5665E9}"/>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5BD36CF1-E94C-D861-58E7-5D80870515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20" name="Freeform 6">
              <a:extLst>
                <a:ext uri="{FF2B5EF4-FFF2-40B4-BE49-F238E27FC236}">
                  <a16:creationId xmlns:a16="http://schemas.microsoft.com/office/drawing/2014/main" id="{FEB37969-483F-89AA-21E3-B07465D01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21" name="Freeform 7">
              <a:extLst>
                <a:ext uri="{FF2B5EF4-FFF2-40B4-BE49-F238E27FC236}">
                  <a16:creationId xmlns:a16="http://schemas.microsoft.com/office/drawing/2014/main" id="{431910CA-7360-DDF0-F7EC-823740AA7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22" name="Freeform 8">
              <a:extLst>
                <a:ext uri="{FF2B5EF4-FFF2-40B4-BE49-F238E27FC236}">
                  <a16:creationId xmlns:a16="http://schemas.microsoft.com/office/drawing/2014/main" id="{866CCFC8-8484-2DDF-8259-09FC093DB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23" name="Freeform 9">
              <a:extLst>
                <a:ext uri="{FF2B5EF4-FFF2-40B4-BE49-F238E27FC236}">
                  <a16:creationId xmlns:a16="http://schemas.microsoft.com/office/drawing/2014/main" id="{A66752EE-AF05-E068-06E5-F45FDEF859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24" name="Freeform 10">
              <a:extLst>
                <a:ext uri="{FF2B5EF4-FFF2-40B4-BE49-F238E27FC236}">
                  <a16:creationId xmlns:a16="http://schemas.microsoft.com/office/drawing/2014/main" id="{4E8B8FDD-C62C-848E-3CAC-EE72C675FE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25" name="Freeform 11">
              <a:extLst>
                <a:ext uri="{FF2B5EF4-FFF2-40B4-BE49-F238E27FC236}">
                  <a16:creationId xmlns:a16="http://schemas.microsoft.com/office/drawing/2014/main" id="{4DF8BE38-4E35-D56C-AB5E-29CEC6B240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B83ADA20-499C-92B2-4D5C-A44672627600}"/>
              </a:ext>
            </a:extLst>
          </p:cNvPr>
          <p:cNvSpPr>
            <a:spLocks noGrp="1"/>
          </p:cNvSpPr>
          <p:nvPr>
            <p:ph type="title"/>
          </p:nvPr>
        </p:nvSpPr>
        <p:spPr>
          <a:xfrm>
            <a:off x="1484312" y="685800"/>
            <a:ext cx="2812385" cy="1752599"/>
          </a:xfrm>
        </p:spPr>
        <p:txBody>
          <a:bodyPr>
            <a:normAutofit/>
          </a:bodyPr>
          <a:lstStyle/>
          <a:p>
            <a:r>
              <a:rPr lang="en-GB" sz="3200" dirty="0"/>
              <a:t>Inverted Full-back</a:t>
            </a:r>
          </a:p>
        </p:txBody>
      </p:sp>
      <p:sp>
        <p:nvSpPr>
          <p:cNvPr id="3" name="Content Placeholder 2">
            <a:extLst>
              <a:ext uri="{FF2B5EF4-FFF2-40B4-BE49-F238E27FC236}">
                <a16:creationId xmlns:a16="http://schemas.microsoft.com/office/drawing/2014/main" id="{974A3644-472B-A0BE-6B5C-E95A6943F633}"/>
              </a:ext>
            </a:extLst>
          </p:cNvPr>
          <p:cNvSpPr>
            <a:spLocks noGrp="1"/>
          </p:cNvSpPr>
          <p:nvPr>
            <p:ph idx="1"/>
          </p:nvPr>
        </p:nvSpPr>
        <p:spPr>
          <a:xfrm>
            <a:off x="1484310" y="2666999"/>
            <a:ext cx="2812387" cy="3124201"/>
          </a:xfrm>
        </p:spPr>
        <p:txBody>
          <a:bodyPr>
            <a:normAutofit/>
          </a:bodyPr>
          <a:lstStyle/>
          <a:p>
            <a:pPr>
              <a:lnSpc>
                <a:spcPct val="90000"/>
              </a:lnSpc>
            </a:pPr>
            <a:r>
              <a:rPr lang="en-GB" sz="1500" dirty="0"/>
              <a:t>Starting tactic, implemented for drawing situations</a:t>
            </a:r>
          </a:p>
          <a:p>
            <a:pPr>
              <a:lnSpc>
                <a:spcPct val="90000"/>
              </a:lnSpc>
            </a:pPr>
            <a:r>
              <a:rPr lang="en-GB" sz="1500" dirty="0">
                <a:hlinkClick r:id="rId3"/>
              </a:rPr>
              <a:t>Link to match</a:t>
            </a:r>
            <a:r>
              <a:rPr lang="en-GB" sz="1500" dirty="0"/>
              <a:t> (0.29)</a:t>
            </a:r>
          </a:p>
          <a:p>
            <a:pPr>
              <a:lnSpc>
                <a:spcPct val="90000"/>
              </a:lnSpc>
            </a:pPr>
            <a:r>
              <a:rPr lang="en-GB" sz="1500" dirty="0"/>
              <a:t>Full-Back (no. 4) joins the midfield, giving a numerical advantage and leading to box midfield for best ball progression</a:t>
            </a:r>
          </a:p>
        </p:txBody>
      </p:sp>
      <p:sp>
        <p:nvSpPr>
          <p:cNvPr id="26" name="Rounded Rectangle 16">
            <a:extLst>
              <a:ext uri="{FF2B5EF4-FFF2-40B4-BE49-F238E27FC236}">
                <a16:creationId xmlns:a16="http://schemas.microsoft.com/office/drawing/2014/main" id="{72FAC9A5-2F1F-A0C6-4BFF-A935978C54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1162" y="648931"/>
            <a:ext cx="6881862"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75B93E2E-F32A-0C54-CAF5-D3B35AA9FA05}"/>
              </a:ext>
            </a:extLst>
          </p:cNvPr>
          <p:cNvGrpSpPr/>
          <p:nvPr/>
        </p:nvGrpSpPr>
        <p:grpSpPr>
          <a:xfrm>
            <a:off x="5911728" y="1174531"/>
            <a:ext cx="4300729" cy="4180764"/>
            <a:chOff x="838199" y="1728761"/>
            <a:chExt cx="4300729" cy="4180764"/>
          </a:xfrm>
        </p:grpSpPr>
        <p:pic>
          <p:nvPicPr>
            <p:cNvPr id="6" name="Picture 5">
              <a:extLst>
                <a:ext uri="{FF2B5EF4-FFF2-40B4-BE49-F238E27FC236}">
                  <a16:creationId xmlns:a16="http://schemas.microsoft.com/office/drawing/2014/main" id="{6A08B862-817F-E099-24BA-D8BF3D629169}"/>
                </a:ext>
              </a:extLst>
            </p:cNvPr>
            <p:cNvPicPr>
              <a:picLocks noChangeAspect="1"/>
            </p:cNvPicPr>
            <p:nvPr/>
          </p:nvPicPr>
          <p:blipFill>
            <a:blip r:embed="rId4"/>
            <a:stretch>
              <a:fillRect/>
            </a:stretch>
          </p:blipFill>
          <p:spPr>
            <a:xfrm>
              <a:off x="838199" y="1728761"/>
              <a:ext cx="4300729" cy="4180764"/>
            </a:xfrm>
            <a:prstGeom prst="rect">
              <a:avLst/>
            </a:prstGeom>
          </p:spPr>
        </p:pic>
        <p:sp>
          <p:nvSpPr>
            <p:cNvPr id="7" name="Rectangle 6">
              <a:extLst>
                <a:ext uri="{FF2B5EF4-FFF2-40B4-BE49-F238E27FC236}">
                  <a16:creationId xmlns:a16="http://schemas.microsoft.com/office/drawing/2014/main" id="{BCEB858F-6832-7D91-5DE7-AE4542B4D768}"/>
                </a:ext>
              </a:extLst>
            </p:cNvPr>
            <p:cNvSpPr/>
            <p:nvPr/>
          </p:nvSpPr>
          <p:spPr>
            <a:xfrm>
              <a:off x="2304288" y="4398264"/>
              <a:ext cx="1426464" cy="106070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565722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F0165-F0B7-8FC5-F10F-5A8560FFE8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3E50D-6C68-C20D-D841-12D5A0B8F17C}"/>
              </a:ext>
            </a:extLst>
          </p:cNvPr>
          <p:cNvSpPr>
            <a:spLocks noGrp="1"/>
          </p:cNvSpPr>
          <p:nvPr>
            <p:ph type="title"/>
          </p:nvPr>
        </p:nvSpPr>
        <p:spPr>
          <a:xfrm>
            <a:off x="630935" y="639520"/>
            <a:ext cx="10701093" cy="601451"/>
          </a:xfrm>
        </p:spPr>
        <p:txBody>
          <a:bodyPr anchor="b">
            <a:normAutofit fontScale="90000"/>
          </a:bodyPr>
          <a:lstStyle/>
          <a:p>
            <a:r>
              <a:rPr lang="en-GB" sz="5400" dirty="0"/>
              <a:t>Key Moment - False 9</a:t>
            </a:r>
          </a:p>
        </p:txBody>
      </p:sp>
      <p:sp>
        <p:nvSpPr>
          <p:cNvPr id="3" name="Content Placeholder 2">
            <a:extLst>
              <a:ext uri="{FF2B5EF4-FFF2-40B4-BE49-F238E27FC236}">
                <a16:creationId xmlns:a16="http://schemas.microsoft.com/office/drawing/2014/main" id="{48A6CFE2-5FC2-6943-BDC8-52EA4BFFC56D}"/>
              </a:ext>
            </a:extLst>
          </p:cNvPr>
          <p:cNvSpPr>
            <a:spLocks noGrp="1"/>
          </p:cNvSpPr>
          <p:nvPr>
            <p:ph idx="1"/>
          </p:nvPr>
        </p:nvSpPr>
        <p:spPr>
          <a:xfrm>
            <a:off x="4019550" y="2816395"/>
            <a:ext cx="2557209" cy="1085229"/>
          </a:xfrm>
        </p:spPr>
        <p:txBody>
          <a:bodyPr anchor="t">
            <a:normAutofit/>
          </a:bodyPr>
          <a:lstStyle/>
          <a:p>
            <a:pPr marL="0" indent="0">
              <a:buNone/>
            </a:pPr>
            <a:r>
              <a:rPr lang="en-GB" sz="1600" dirty="0"/>
              <a:t>1) False 9 picks ball up deep in midfield</a:t>
            </a:r>
          </a:p>
        </p:txBody>
      </p:sp>
      <p:sp>
        <p:nvSpPr>
          <p:cNvPr id="13" name="Content Placeholder 2">
            <a:extLst>
              <a:ext uri="{FF2B5EF4-FFF2-40B4-BE49-F238E27FC236}">
                <a16:creationId xmlns:a16="http://schemas.microsoft.com/office/drawing/2014/main" id="{5C5B4E61-636F-F5B9-F681-11569184A3EF}"/>
              </a:ext>
            </a:extLst>
          </p:cNvPr>
          <p:cNvSpPr txBox="1">
            <a:spLocks/>
          </p:cNvSpPr>
          <p:nvPr/>
        </p:nvSpPr>
        <p:spPr>
          <a:xfrm>
            <a:off x="6375442" y="2840278"/>
            <a:ext cx="2906431" cy="99888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600" dirty="0"/>
              <a:t>2) False 9 moves wide to play next to the winger</a:t>
            </a:r>
          </a:p>
        </p:txBody>
      </p:sp>
      <p:sp>
        <p:nvSpPr>
          <p:cNvPr id="14" name="Content Placeholder 2">
            <a:extLst>
              <a:ext uri="{FF2B5EF4-FFF2-40B4-BE49-F238E27FC236}">
                <a16:creationId xmlns:a16="http://schemas.microsoft.com/office/drawing/2014/main" id="{29543C83-3E13-E570-404B-AE1B815039B9}"/>
              </a:ext>
            </a:extLst>
          </p:cNvPr>
          <p:cNvSpPr txBox="1">
            <a:spLocks/>
          </p:cNvSpPr>
          <p:nvPr/>
        </p:nvSpPr>
        <p:spPr>
          <a:xfrm>
            <a:off x="9016860" y="2686101"/>
            <a:ext cx="3448447" cy="116048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600" dirty="0"/>
              <a:t>3) False 9 picks the ball up deeper, allowing him to dribble and go on to score</a:t>
            </a:r>
          </a:p>
        </p:txBody>
      </p:sp>
      <p:grpSp>
        <p:nvGrpSpPr>
          <p:cNvPr id="4" name="Group 3">
            <a:extLst>
              <a:ext uri="{FF2B5EF4-FFF2-40B4-BE49-F238E27FC236}">
                <a16:creationId xmlns:a16="http://schemas.microsoft.com/office/drawing/2014/main" id="{489B377A-8429-0EAF-CE00-527C53F1F291}"/>
              </a:ext>
            </a:extLst>
          </p:cNvPr>
          <p:cNvGrpSpPr/>
          <p:nvPr/>
        </p:nvGrpSpPr>
        <p:grpSpPr>
          <a:xfrm>
            <a:off x="4409244" y="3272650"/>
            <a:ext cx="6064425" cy="2747227"/>
            <a:chOff x="1572767" y="2418370"/>
            <a:chExt cx="8900902" cy="3601507"/>
          </a:xfrm>
        </p:grpSpPr>
        <p:pic>
          <p:nvPicPr>
            <p:cNvPr id="6" name="Picture 5">
              <a:extLst>
                <a:ext uri="{FF2B5EF4-FFF2-40B4-BE49-F238E27FC236}">
                  <a16:creationId xmlns:a16="http://schemas.microsoft.com/office/drawing/2014/main" id="{9D29C6A4-5A9F-579B-19BC-B5AB5336C306}"/>
                </a:ext>
              </a:extLst>
            </p:cNvPr>
            <p:cNvPicPr>
              <a:picLocks noChangeAspect="1"/>
            </p:cNvPicPr>
            <p:nvPr/>
          </p:nvPicPr>
          <p:blipFill>
            <a:blip r:embed="rId2"/>
            <a:stretch>
              <a:fillRect/>
            </a:stretch>
          </p:blipFill>
          <p:spPr>
            <a:xfrm>
              <a:off x="1572767" y="2543063"/>
              <a:ext cx="2754577" cy="3476814"/>
            </a:xfrm>
            <a:prstGeom prst="rect">
              <a:avLst/>
            </a:prstGeom>
          </p:spPr>
        </p:pic>
        <p:pic>
          <p:nvPicPr>
            <p:cNvPr id="8" name="Picture 7">
              <a:extLst>
                <a:ext uri="{FF2B5EF4-FFF2-40B4-BE49-F238E27FC236}">
                  <a16:creationId xmlns:a16="http://schemas.microsoft.com/office/drawing/2014/main" id="{28A3F16A-43F1-FF96-9579-8D792553E811}"/>
                </a:ext>
              </a:extLst>
            </p:cNvPr>
            <p:cNvPicPr>
              <a:picLocks noChangeAspect="1"/>
            </p:cNvPicPr>
            <p:nvPr/>
          </p:nvPicPr>
          <p:blipFill>
            <a:blip r:embed="rId3"/>
            <a:stretch>
              <a:fillRect/>
            </a:stretch>
          </p:blipFill>
          <p:spPr>
            <a:xfrm>
              <a:off x="4947747" y="2543063"/>
              <a:ext cx="2460199" cy="3441350"/>
            </a:xfrm>
            <a:prstGeom prst="rect">
              <a:avLst/>
            </a:prstGeom>
          </p:spPr>
        </p:pic>
        <p:pic>
          <p:nvPicPr>
            <p:cNvPr id="10" name="Picture 9">
              <a:extLst>
                <a:ext uri="{FF2B5EF4-FFF2-40B4-BE49-F238E27FC236}">
                  <a16:creationId xmlns:a16="http://schemas.microsoft.com/office/drawing/2014/main" id="{D77DBF13-7C26-5739-A1FE-78B695ADF056}"/>
                </a:ext>
              </a:extLst>
            </p:cNvPr>
            <p:cNvPicPr>
              <a:picLocks noChangeAspect="1"/>
            </p:cNvPicPr>
            <p:nvPr/>
          </p:nvPicPr>
          <p:blipFill>
            <a:blip r:embed="rId4"/>
            <a:stretch>
              <a:fillRect/>
            </a:stretch>
          </p:blipFill>
          <p:spPr>
            <a:xfrm>
              <a:off x="9191855" y="2418370"/>
              <a:ext cx="1281814" cy="3519903"/>
            </a:xfrm>
            <a:prstGeom prst="rect">
              <a:avLst/>
            </a:prstGeom>
          </p:spPr>
        </p:pic>
        <p:sp>
          <p:nvSpPr>
            <p:cNvPr id="15" name="Oval 14">
              <a:extLst>
                <a:ext uri="{FF2B5EF4-FFF2-40B4-BE49-F238E27FC236}">
                  <a16:creationId xmlns:a16="http://schemas.microsoft.com/office/drawing/2014/main" id="{53EB0CA2-454E-FBC5-1737-E2A47EDEBD8E}"/>
                </a:ext>
              </a:extLst>
            </p:cNvPr>
            <p:cNvSpPr/>
            <p:nvPr/>
          </p:nvSpPr>
          <p:spPr>
            <a:xfrm>
              <a:off x="2095718" y="4263738"/>
              <a:ext cx="174171" cy="179375"/>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C7F83ED0-F429-DADD-74AC-355523FD7FB6}"/>
                </a:ext>
              </a:extLst>
            </p:cNvPr>
            <p:cNvSpPr/>
            <p:nvPr/>
          </p:nvSpPr>
          <p:spPr>
            <a:xfrm>
              <a:off x="5479881" y="5661427"/>
              <a:ext cx="339634" cy="322986"/>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B59EB35D-F67B-C97F-ABD8-63C1CC10A840}"/>
                </a:ext>
              </a:extLst>
            </p:cNvPr>
            <p:cNvSpPr/>
            <p:nvPr/>
          </p:nvSpPr>
          <p:spPr>
            <a:xfrm>
              <a:off x="9372177" y="4315579"/>
              <a:ext cx="274743" cy="255068"/>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 name="Oval 17">
            <a:extLst>
              <a:ext uri="{FF2B5EF4-FFF2-40B4-BE49-F238E27FC236}">
                <a16:creationId xmlns:a16="http://schemas.microsoft.com/office/drawing/2014/main" id="{87D8B3FB-E500-ED82-FC99-4DF21E8E654B}"/>
              </a:ext>
            </a:extLst>
          </p:cNvPr>
          <p:cNvSpPr/>
          <p:nvPr/>
        </p:nvSpPr>
        <p:spPr>
          <a:xfrm>
            <a:off x="7632765" y="6231889"/>
            <a:ext cx="187166" cy="247957"/>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20" name="Content Placeholder 2">
            <a:extLst>
              <a:ext uri="{FF2B5EF4-FFF2-40B4-BE49-F238E27FC236}">
                <a16:creationId xmlns:a16="http://schemas.microsoft.com/office/drawing/2014/main" id="{5DE3A037-A04E-4A10-EBDE-F678C4D98BC2}"/>
              </a:ext>
            </a:extLst>
          </p:cNvPr>
          <p:cNvSpPr txBox="1">
            <a:spLocks/>
          </p:cNvSpPr>
          <p:nvPr/>
        </p:nvSpPr>
        <p:spPr>
          <a:xfrm>
            <a:off x="7819931" y="6022115"/>
            <a:ext cx="4708861" cy="116048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a:t>Orange circle highlights where normal striker would be compared to false 9</a:t>
            </a:r>
          </a:p>
        </p:txBody>
      </p:sp>
      <p:sp>
        <p:nvSpPr>
          <p:cNvPr id="7" name="TextBox 6">
            <a:extLst>
              <a:ext uri="{FF2B5EF4-FFF2-40B4-BE49-F238E27FC236}">
                <a16:creationId xmlns:a16="http://schemas.microsoft.com/office/drawing/2014/main" id="{D1D1715F-0A93-1361-AF80-1BF7A9F76FCB}"/>
              </a:ext>
            </a:extLst>
          </p:cNvPr>
          <p:cNvSpPr txBox="1"/>
          <p:nvPr/>
        </p:nvSpPr>
        <p:spPr>
          <a:xfrm>
            <a:off x="1450916" y="1976165"/>
            <a:ext cx="6281928" cy="840230"/>
          </a:xfrm>
          <a:prstGeom prst="rect">
            <a:avLst/>
          </a:prstGeom>
          <a:noFill/>
        </p:spPr>
        <p:txBody>
          <a:bodyPr wrap="square">
            <a:spAutoFit/>
          </a:bodyPr>
          <a:lstStyle/>
          <a:p>
            <a:pPr marL="285750" indent="-285750">
              <a:lnSpc>
                <a:spcPct val="90000"/>
              </a:lnSpc>
              <a:buFont typeface="Arial" panose="020B0604020202020204" pitchFamily="34" charset="0"/>
              <a:buChar char="•"/>
            </a:pPr>
            <a:r>
              <a:rPr lang="en-GB" sz="1800" dirty="0"/>
              <a:t>Deployed in winning situations, allows for more control of the midfield and able to consolidate leads</a:t>
            </a:r>
          </a:p>
          <a:p>
            <a:pPr marL="285750" indent="-285750">
              <a:lnSpc>
                <a:spcPct val="90000"/>
              </a:lnSpc>
              <a:buFont typeface="Arial" panose="020B0604020202020204" pitchFamily="34" charset="0"/>
              <a:buChar char="•"/>
            </a:pPr>
            <a:r>
              <a:rPr lang="en-GB" sz="1800" dirty="0">
                <a:hlinkClick r:id="rId5"/>
              </a:rPr>
              <a:t>Link to match</a:t>
            </a:r>
            <a:r>
              <a:rPr lang="en-GB" sz="1800" dirty="0"/>
              <a:t> (7.55)</a:t>
            </a:r>
          </a:p>
        </p:txBody>
      </p:sp>
    </p:spTree>
    <p:extLst>
      <p:ext uri="{BB962C8B-B14F-4D97-AF65-F5344CB8AC3E}">
        <p14:creationId xmlns:p14="http://schemas.microsoft.com/office/powerpoint/2010/main" val="304528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8E917CDA-C20C-02A0-591B-7187D460F38C}"/>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C538F206-9BBA-4487-865D-71DFC74F8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11" name="Freeform 6">
              <a:extLst>
                <a:ext uri="{FF2B5EF4-FFF2-40B4-BE49-F238E27FC236}">
                  <a16:creationId xmlns:a16="http://schemas.microsoft.com/office/drawing/2014/main" id="{580614F2-0CEB-4083-881D-7C6D94EE1D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12" name="Freeform 7">
              <a:extLst>
                <a:ext uri="{FF2B5EF4-FFF2-40B4-BE49-F238E27FC236}">
                  <a16:creationId xmlns:a16="http://schemas.microsoft.com/office/drawing/2014/main" id="{DCFD8076-443D-4E98-86A9-67AE2B4752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13" name="Freeform 8">
              <a:extLst>
                <a:ext uri="{FF2B5EF4-FFF2-40B4-BE49-F238E27FC236}">
                  <a16:creationId xmlns:a16="http://schemas.microsoft.com/office/drawing/2014/main" id="{F85D1CA3-A4F9-4CA3-85A0-167A4345B3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14" name="Freeform 9">
              <a:extLst>
                <a:ext uri="{FF2B5EF4-FFF2-40B4-BE49-F238E27FC236}">
                  <a16:creationId xmlns:a16="http://schemas.microsoft.com/office/drawing/2014/main" id="{E3BB8822-EB78-4939-8901-EF8FFA1C48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15" name="Freeform 10">
              <a:extLst>
                <a:ext uri="{FF2B5EF4-FFF2-40B4-BE49-F238E27FC236}">
                  <a16:creationId xmlns:a16="http://schemas.microsoft.com/office/drawing/2014/main" id="{72544C13-BB7D-4E3D-9438-8875C50C8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16" name="Freeform 11">
              <a:extLst>
                <a:ext uri="{FF2B5EF4-FFF2-40B4-BE49-F238E27FC236}">
                  <a16:creationId xmlns:a16="http://schemas.microsoft.com/office/drawing/2014/main" id="{9650E338-7738-4630-84F5-898D9E4309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3CDF90C5-D0FA-E877-5AAE-C094548C00E7}"/>
              </a:ext>
            </a:extLst>
          </p:cNvPr>
          <p:cNvSpPr>
            <a:spLocks noGrp="1"/>
          </p:cNvSpPr>
          <p:nvPr>
            <p:ph type="title"/>
          </p:nvPr>
        </p:nvSpPr>
        <p:spPr>
          <a:xfrm>
            <a:off x="1484312" y="685800"/>
            <a:ext cx="2812385" cy="1752599"/>
          </a:xfrm>
        </p:spPr>
        <p:txBody>
          <a:bodyPr>
            <a:normAutofit/>
          </a:bodyPr>
          <a:lstStyle/>
          <a:p>
            <a:r>
              <a:rPr lang="en-GB" sz="3200" dirty="0"/>
              <a:t>4-4-2 Structure OOP</a:t>
            </a:r>
          </a:p>
        </p:txBody>
      </p:sp>
      <p:sp>
        <p:nvSpPr>
          <p:cNvPr id="3" name="Content Placeholder 2">
            <a:extLst>
              <a:ext uri="{FF2B5EF4-FFF2-40B4-BE49-F238E27FC236}">
                <a16:creationId xmlns:a16="http://schemas.microsoft.com/office/drawing/2014/main" id="{A3E564CE-4C2D-BA53-B4DC-57E175F889F5}"/>
              </a:ext>
            </a:extLst>
          </p:cNvPr>
          <p:cNvSpPr>
            <a:spLocks noGrp="1"/>
          </p:cNvSpPr>
          <p:nvPr>
            <p:ph idx="1"/>
          </p:nvPr>
        </p:nvSpPr>
        <p:spPr>
          <a:xfrm>
            <a:off x="1484310" y="2666999"/>
            <a:ext cx="2812387" cy="3124201"/>
          </a:xfrm>
        </p:spPr>
        <p:txBody>
          <a:bodyPr>
            <a:normAutofit/>
          </a:bodyPr>
          <a:lstStyle/>
          <a:p>
            <a:pPr>
              <a:lnSpc>
                <a:spcPct val="90000"/>
              </a:lnSpc>
            </a:pPr>
            <a:r>
              <a:rPr lang="en-GB" sz="1700" dirty="0"/>
              <a:t>Defensive Structure used when winning – aiming to hold onto a lead</a:t>
            </a:r>
          </a:p>
          <a:p>
            <a:pPr>
              <a:lnSpc>
                <a:spcPct val="90000"/>
              </a:lnSpc>
            </a:pPr>
            <a:r>
              <a:rPr lang="en-GB" sz="1700" dirty="0">
                <a:hlinkClick r:id="rId3"/>
              </a:rPr>
              <a:t>Link to match</a:t>
            </a:r>
            <a:r>
              <a:rPr lang="en-GB" sz="1700" dirty="0"/>
              <a:t> (2.50)</a:t>
            </a:r>
          </a:p>
          <a:p>
            <a:pPr>
              <a:lnSpc>
                <a:spcPct val="90000"/>
              </a:lnSpc>
            </a:pPr>
            <a:r>
              <a:rPr lang="en-GB" sz="1700" dirty="0"/>
              <a:t>Compact Shape</a:t>
            </a:r>
          </a:p>
          <a:p>
            <a:pPr>
              <a:lnSpc>
                <a:spcPct val="90000"/>
              </a:lnSpc>
            </a:pPr>
            <a:r>
              <a:rPr lang="en-GB" sz="1700" dirty="0"/>
              <a:t>Covers pitch most efficiently with 10 players</a:t>
            </a:r>
          </a:p>
          <a:p>
            <a:pPr>
              <a:lnSpc>
                <a:spcPct val="90000"/>
              </a:lnSpc>
            </a:pPr>
            <a:r>
              <a:rPr lang="en-GB" sz="1700" dirty="0"/>
              <a:t>Prevents a goal in this situation</a:t>
            </a:r>
          </a:p>
        </p:txBody>
      </p:sp>
      <p:sp>
        <p:nvSpPr>
          <p:cNvPr id="18" name="Rounded Rectangle 16">
            <a:extLst>
              <a:ext uri="{FF2B5EF4-FFF2-40B4-BE49-F238E27FC236}">
                <a16:creationId xmlns:a16="http://schemas.microsoft.com/office/drawing/2014/main" id="{24EE91D3-118F-4591-A85A-D157CF847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1162" y="648931"/>
            <a:ext cx="6881862"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746537B-B90E-9953-9E57-3222198EF190}"/>
              </a:ext>
            </a:extLst>
          </p:cNvPr>
          <p:cNvPicPr>
            <a:picLocks noChangeAspect="1"/>
          </p:cNvPicPr>
          <p:nvPr/>
        </p:nvPicPr>
        <p:blipFill>
          <a:blip r:embed="rId4"/>
          <a:stretch>
            <a:fillRect/>
          </a:stretch>
        </p:blipFill>
        <p:spPr>
          <a:xfrm>
            <a:off x="5107473" y="1011765"/>
            <a:ext cx="5904816" cy="4546708"/>
          </a:xfrm>
          <a:prstGeom prst="rect">
            <a:avLst/>
          </a:prstGeom>
        </p:spPr>
      </p:pic>
      <p:cxnSp>
        <p:nvCxnSpPr>
          <p:cNvPr id="7" name="Straight Connector 6">
            <a:extLst>
              <a:ext uri="{FF2B5EF4-FFF2-40B4-BE49-F238E27FC236}">
                <a16:creationId xmlns:a16="http://schemas.microsoft.com/office/drawing/2014/main" id="{9AD0A45A-97C6-BEC5-C438-48D660A08FCA}"/>
              </a:ext>
            </a:extLst>
          </p:cNvPr>
          <p:cNvCxnSpPr/>
          <p:nvPr/>
        </p:nvCxnSpPr>
        <p:spPr>
          <a:xfrm flipH="1">
            <a:off x="8366760" y="1828800"/>
            <a:ext cx="164592" cy="2231136"/>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01F4F9E-107F-D00A-092E-D71FBED57711}"/>
              </a:ext>
            </a:extLst>
          </p:cNvPr>
          <p:cNvCxnSpPr>
            <a:cxnSpLocks/>
          </p:cNvCxnSpPr>
          <p:nvPr/>
        </p:nvCxnSpPr>
        <p:spPr>
          <a:xfrm>
            <a:off x="7735824" y="1380744"/>
            <a:ext cx="100584" cy="859536"/>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BBCB205-F07D-5956-15EA-A66913C120F6}"/>
              </a:ext>
            </a:extLst>
          </p:cNvPr>
          <p:cNvCxnSpPr>
            <a:cxnSpLocks/>
          </p:cNvCxnSpPr>
          <p:nvPr/>
        </p:nvCxnSpPr>
        <p:spPr>
          <a:xfrm flipV="1">
            <a:off x="7187184" y="3529584"/>
            <a:ext cx="448056" cy="1152144"/>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46376D6-7616-47C6-55E9-F07A64CFCD05}"/>
              </a:ext>
            </a:extLst>
          </p:cNvPr>
          <p:cNvCxnSpPr>
            <a:cxnSpLocks/>
          </p:cNvCxnSpPr>
          <p:nvPr/>
        </p:nvCxnSpPr>
        <p:spPr>
          <a:xfrm flipH="1">
            <a:off x="7635240" y="2157984"/>
            <a:ext cx="201168" cy="1371600"/>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5C92B13-167E-2D8E-9907-7E03A4F84EF7}"/>
              </a:ext>
            </a:extLst>
          </p:cNvPr>
          <p:cNvCxnSpPr>
            <a:cxnSpLocks/>
          </p:cNvCxnSpPr>
          <p:nvPr/>
        </p:nvCxnSpPr>
        <p:spPr>
          <a:xfrm flipH="1">
            <a:off x="6858000" y="2862072"/>
            <a:ext cx="100584" cy="667512"/>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387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F2C8EFF8-F424-51C6-850A-63148E8256E4}"/>
            </a:ext>
          </a:extLst>
        </p:cNvPr>
        <p:cNvGrpSpPr/>
        <p:nvPr/>
      </p:nvGrpSpPr>
      <p:grpSpPr>
        <a:xfrm>
          <a:off x="0" y="0"/>
          <a:ext cx="0" cy="0"/>
          <a:chOff x="0" y="0"/>
          <a:chExt cx="0" cy="0"/>
        </a:xfrm>
      </p:grpSpPr>
      <p:grpSp>
        <p:nvGrpSpPr>
          <p:cNvPr id="36" name="Group 35">
            <a:extLst>
              <a:ext uri="{FF2B5EF4-FFF2-40B4-BE49-F238E27FC236}">
                <a16:creationId xmlns:a16="http://schemas.microsoft.com/office/drawing/2014/main" id="{512B1782-CDD4-41AC-A632-FFC36522CD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37" name="Freeform 6">
              <a:extLst>
                <a:ext uri="{FF2B5EF4-FFF2-40B4-BE49-F238E27FC236}">
                  <a16:creationId xmlns:a16="http://schemas.microsoft.com/office/drawing/2014/main" id="{4CC61CD1-0317-49A4-8AD6-BA2409A777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38" name="Freeform 7">
              <a:extLst>
                <a:ext uri="{FF2B5EF4-FFF2-40B4-BE49-F238E27FC236}">
                  <a16:creationId xmlns:a16="http://schemas.microsoft.com/office/drawing/2014/main" id="{54891CA5-4664-43C7-B0E6-277D54F785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39" name="Freeform 8">
              <a:extLst>
                <a:ext uri="{FF2B5EF4-FFF2-40B4-BE49-F238E27FC236}">
                  <a16:creationId xmlns:a16="http://schemas.microsoft.com/office/drawing/2014/main" id="{D04F924D-548A-4010-9490-978E31BF8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40" name="Freeform 9">
              <a:extLst>
                <a:ext uri="{FF2B5EF4-FFF2-40B4-BE49-F238E27FC236}">
                  <a16:creationId xmlns:a16="http://schemas.microsoft.com/office/drawing/2014/main" id="{FE352E39-F08E-45D4-A919-8FF89A1A07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41" name="Freeform 10">
              <a:extLst>
                <a:ext uri="{FF2B5EF4-FFF2-40B4-BE49-F238E27FC236}">
                  <a16:creationId xmlns:a16="http://schemas.microsoft.com/office/drawing/2014/main" id="{BC3C8D0A-607E-4526-B108-30E465AE2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42" name="Freeform 11">
              <a:extLst>
                <a:ext uri="{FF2B5EF4-FFF2-40B4-BE49-F238E27FC236}">
                  <a16:creationId xmlns:a16="http://schemas.microsoft.com/office/drawing/2014/main" id="{FFC982EA-5E3C-4493-BDB1-9F6A411854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89C6199E-5B0A-DC8A-77FC-BADD88C4AF5F}"/>
              </a:ext>
            </a:extLst>
          </p:cNvPr>
          <p:cNvSpPr>
            <a:spLocks noGrp="1"/>
          </p:cNvSpPr>
          <p:nvPr>
            <p:ph type="title"/>
          </p:nvPr>
        </p:nvSpPr>
        <p:spPr>
          <a:xfrm>
            <a:off x="1727200" y="685800"/>
            <a:ext cx="2569498" cy="1752599"/>
          </a:xfrm>
        </p:spPr>
        <p:txBody>
          <a:bodyPr anchor="b">
            <a:normAutofit/>
          </a:bodyPr>
          <a:lstStyle/>
          <a:p>
            <a:pPr algn="l"/>
            <a:r>
              <a:rPr lang="en-GB" sz="3200" dirty="0"/>
              <a:t>4-3-3 High Press OOP</a:t>
            </a:r>
            <a:endParaRPr lang="en-GB" sz="3200"/>
          </a:p>
        </p:txBody>
      </p:sp>
      <p:sp>
        <p:nvSpPr>
          <p:cNvPr id="3" name="Content Placeholder 2">
            <a:extLst>
              <a:ext uri="{FF2B5EF4-FFF2-40B4-BE49-F238E27FC236}">
                <a16:creationId xmlns:a16="http://schemas.microsoft.com/office/drawing/2014/main" id="{DD13B8F2-4F23-6873-9BEA-A3A7DAB08B2C}"/>
              </a:ext>
            </a:extLst>
          </p:cNvPr>
          <p:cNvSpPr>
            <a:spLocks noGrp="1"/>
          </p:cNvSpPr>
          <p:nvPr>
            <p:ph idx="1"/>
          </p:nvPr>
        </p:nvSpPr>
        <p:spPr>
          <a:xfrm>
            <a:off x="1484310" y="2666999"/>
            <a:ext cx="2812387" cy="3200132"/>
          </a:xfrm>
        </p:spPr>
        <p:txBody>
          <a:bodyPr anchor="t">
            <a:normAutofit/>
          </a:bodyPr>
          <a:lstStyle/>
          <a:p>
            <a:pPr>
              <a:lnSpc>
                <a:spcPct val="90000"/>
              </a:lnSpc>
            </a:pPr>
            <a:r>
              <a:rPr lang="en-GB" sz="1800" dirty="0"/>
              <a:t>Defensive Structure used when drawing or behind – aim to put pressure on opponent and force mistakes</a:t>
            </a:r>
          </a:p>
          <a:p>
            <a:pPr>
              <a:lnSpc>
                <a:spcPct val="90000"/>
              </a:lnSpc>
            </a:pPr>
            <a:r>
              <a:rPr lang="en-GB" sz="1800" dirty="0">
                <a:hlinkClick r:id="rId3"/>
              </a:rPr>
              <a:t>Link to match </a:t>
            </a:r>
            <a:r>
              <a:rPr lang="en-GB" sz="1800" dirty="0"/>
              <a:t>(3.30)</a:t>
            </a:r>
          </a:p>
          <a:p>
            <a:pPr>
              <a:lnSpc>
                <a:spcPct val="90000"/>
              </a:lnSpc>
            </a:pPr>
            <a:r>
              <a:rPr lang="en-GB" sz="1800" dirty="0"/>
              <a:t>Aggressive Tactic</a:t>
            </a:r>
          </a:p>
          <a:p>
            <a:pPr>
              <a:lnSpc>
                <a:spcPct val="90000"/>
              </a:lnSpc>
            </a:pPr>
            <a:r>
              <a:rPr lang="en-GB" sz="1800" dirty="0"/>
              <a:t>Able to create chances close to opposition goal</a:t>
            </a:r>
          </a:p>
          <a:p>
            <a:pPr>
              <a:lnSpc>
                <a:spcPct val="90000"/>
              </a:lnSpc>
            </a:pPr>
            <a:r>
              <a:rPr lang="en-GB" sz="1800" dirty="0"/>
              <a:t>Wins ball back here</a:t>
            </a:r>
          </a:p>
        </p:txBody>
      </p:sp>
      <p:sp>
        <p:nvSpPr>
          <p:cNvPr id="44" name="Rounded Rectangle 16">
            <a:extLst>
              <a:ext uri="{FF2B5EF4-FFF2-40B4-BE49-F238E27FC236}">
                <a16:creationId xmlns:a16="http://schemas.microsoft.com/office/drawing/2014/main" id="{CA5FA9EF-4A97-4A0B-98BF-AC4CABAAA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1162" y="648931"/>
            <a:ext cx="6881862"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football field with circles and numbers&#10;&#10;AI-generated content may be incorrect.">
            <a:extLst>
              <a:ext uri="{FF2B5EF4-FFF2-40B4-BE49-F238E27FC236}">
                <a16:creationId xmlns:a16="http://schemas.microsoft.com/office/drawing/2014/main" id="{36D48921-6CF1-B853-4436-7139FC7DD3D9}"/>
              </a:ext>
            </a:extLst>
          </p:cNvPr>
          <p:cNvPicPr>
            <a:picLocks noChangeAspect="1"/>
          </p:cNvPicPr>
          <p:nvPr/>
        </p:nvPicPr>
        <p:blipFill>
          <a:blip r:embed="rId4"/>
          <a:srcRect t="1205" r="-3" b="1599"/>
          <a:stretch/>
        </p:blipFill>
        <p:spPr>
          <a:xfrm>
            <a:off x="4941202" y="1011765"/>
            <a:ext cx="6237359" cy="4546708"/>
          </a:xfrm>
          <a:prstGeom prst="rect">
            <a:avLst/>
          </a:prstGeom>
        </p:spPr>
      </p:pic>
      <p:cxnSp>
        <p:nvCxnSpPr>
          <p:cNvPr id="30" name="Straight Arrow Connector 29">
            <a:extLst>
              <a:ext uri="{FF2B5EF4-FFF2-40B4-BE49-F238E27FC236}">
                <a16:creationId xmlns:a16="http://schemas.microsoft.com/office/drawing/2014/main" id="{EEC1D6E9-58BB-080E-61D0-678CDA960F78}"/>
              </a:ext>
            </a:extLst>
          </p:cNvPr>
          <p:cNvCxnSpPr/>
          <p:nvPr/>
        </p:nvCxnSpPr>
        <p:spPr>
          <a:xfrm flipH="1">
            <a:off x="8286750" y="2581275"/>
            <a:ext cx="200025" cy="542925"/>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91902CC-CC73-8996-4171-ECDEAF04CB0E}"/>
              </a:ext>
            </a:extLst>
          </p:cNvPr>
          <p:cNvCxnSpPr>
            <a:cxnSpLocks/>
          </p:cNvCxnSpPr>
          <p:nvPr/>
        </p:nvCxnSpPr>
        <p:spPr>
          <a:xfrm flipH="1">
            <a:off x="8439150" y="3276600"/>
            <a:ext cx="567690" cy="0"/>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649C9DC-2F6C-020E-E05C-80D3A2D4D43E}"/>
              </a:ext>
            </a:extLst>
          </p:cNvPr>
          <p:cNvCxnSpPr>
            <a:cxnSpLocks/>
          </p:cNvCxnSpPr>
          <p:nvPr/>
        </p:nvCxnSpPr>
        <p:spPr>
          <a:xfrm flipH="1" flipV="1">
            <a:off x="8386762" y="3487034"/>
            <a:ext cx="100013" cy="335158"/>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97147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789</Words>
  <Application>Microsoft Office PowerPoint</Application>
  <PresentationFormat>Widescreen</PresentationFormat>
  <Paragraphs>71</Paragraphs>
  <Slides>17</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Calibri Light</vt:lpstr>
      <vt:lpstr>Corbel</vt:lpstr>
      <vt:lpstr>Parallax</vt:lpstr>
      <vt:lpstr>Project Demo Presentation</vt:lpstr>
      <vt:lpstr>Implementation of Real-World Modern Football Tactics in RoboCup Soccer Simulator</vt:lpstr>
      <vt:lpstr>Design</vt:lpstr>
      <vt:lpstr>New Role: Overlapping Full-Back</vt:lpstr>
      <vt:lpstr>New Role: False 9</vt:lpstr>
      <vt:lpstr>New Role: Inverted Full-Back</vt:lpstr>
      <vt:lpstr>Updated Formations -  4-4-2 Out of Possession (OOP)</vt:lpstr>
      <vt:lpstr>Updated Formations –  4-3-3 High Press</vt:lpstr>
      <vt:lpstr>xG Modelling</vt:lpstr>
      <vt:lpstr>System Demo</vt:lpstr>
      <vt:lpstr>Recorded Matches</vt:lpstr>
      <vt:lpstr>Tactical Changes</vt:lpstr>
      <vt:lpstr>Overlapping Full-back</vt:lpstr>
      <vt:lpstr>Inverted Full-back</vt:lpstr>
      <vt:lpstr>Key Moment - False 9</vt:lpstr>
      <vt:lpstr>4-4-2 Structure OOP</vt:lpstr>
      <vt:lpstr>4-3-3 High Press OOP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Young</dc:creator>
  <cp:lastModifiedBy>James Young</cp:lastModifiedBy>
  <cp:revision>2</cp:revision>
  <dcterms:created xsi:type="dcterms:W3CDTF">2025-04-26T23:14:36Z</dcterms:created>
  <dcterms:modified xsi:type="dcterms:W3CDTF">2025-04-27T17:55:23Z</dcterms:modified>
</cp:coreProperties>
</file>